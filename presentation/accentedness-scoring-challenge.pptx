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49640" y="-320040"/>
            <a:ext cx="4160520" cy="4160520"/>
          </a:xfrm>
          <a:prstGeom prst="ellipse">
            <a:avLst/>
          </a:prstGeom>
          <a:noFill/>
          <a:ln w="1778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4526280"/>
            <a:ext cx="3108960" cy="3108960"/>
          </a:xfrm>
          <a:prstGeom prst="ellipse">
            <a:avLst/>
          </a:prstGeom>
          <a:noFill/>
          <a:ln w="1397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30352"/>
            <a:ext cx="3474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FE3D2"/>
                </a:solidFill>
                <a:latin typeface="Avenir Next"/>
              </a:rPr>
              <a:t>ML TAKE-HOME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6766560" cy="1572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7FAFC"/>
                </a:solidFill>
                <a:latin typeface="Avenir Next"/>
              </a:rPr>
              <a:t>Phone-level
accentedness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889504"/>
            <a:ext cx="1051560" cy="73152"/>
          </a:xfrm>
          <a:prstGeom prst="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163824"/>
            <a:ext cx="6309360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9EB0C3"/>
                </a:solidFill>
                <a:latin typeface="Avenir Next"/>
              </a:rPr>
              <a:t>From speech and expected phonemes to an interpretable
0–100 score for every sound.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24528"/>
            <a:ext cx="1481328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4233672"/>
            <a:ext cx="138988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FE3D2"/>
                </a:solidFill>
                <a:latin typeface="Avenir Next"/>
              </a:rPr>
              <a:t>AUDIO + PHONES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4224528"/>
            <a:ext cx="1481328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4233672"/>
            <a:ext cx="138988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3B7FF"/>
                </a:solidFill>
                <a:latin typeface="Avenir Next"/>
              </a:rPr>
              <a:t>ORDINAL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3632" y="4224528"/>
            <a:ext cx="1417320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59352" y="4233672"/>
            <a:ext cx="132588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9274"/>
                </a:solidFill>
                <a:latin typeface="Avenir Next"/>
              </a:rPr>
              <a:t>GRADIO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650992"/>
            <a:ext cx="27432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FAFC"/>
                </a:solidFill>
                <a:latin typeface="Avenir Next"/>
              </a:rPr>
              <a:t>Aviad Arnias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007608"/>
            <a:ext cx="4206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EB0C3"/>
                </a:solidFill>
                <a:latin typeface="Avenir Next"/>
              </a:rPr>
              <a:t>Modeling • evaluation • product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54112" y="713232"/>
            <a:ext cx="3767328" cy="5349240"/>
          </a:xfrm>
          <a:prstGeom prst="roundRect">
            <a:avLst/>
          </a:prstGeom>
          <a:solidFill>
            <a:srgbClr val="0D1C2D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1033271"/>
            <a:ext cx="23317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ILLUSTRATIVE OUTPUT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5022" y="2009393"/>
            <a:ext cx="45948" cy="96012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4423" y="1971928"/>
            <a:ext cx="45948" cy="170942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33825" y="1929395"/>
            <a:ext cx="45948" cy="25600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43226" y="1883933"/>
            <a:ext cx="45948" cy="346933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52628" y="1842894"/>
            <a:ext cx="45948" cy="429011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029" y="1817728"/>
            <a:ext cx="45948" cy="479342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771430" y="1820276"/>
            <a:ext cx="45948" cy="474247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80832" y="1857796"/>
            <a:ext cx="45948" cy="399206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90233" y="1917098"/>
            <a:ext cx="45948" cy="280603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9635" y="1796168"/>
            <a:ext cx="45948" cy="522462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09036" y="1678126"/>
            <a:ext cx="45948" cy="758547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318438" y="1588261"/>
            <a:ext cx="45948" cy="938276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427839" y="1547974"/>
            <a:ext cx="45948" cy="1018851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37240" y="1568327"/>
            <a:ext cx="45948" cy="978145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46642" y="1646398"/>
            <a:ext cx="45948" cy="822003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756043" y="1765733"/>
            <a:ext cx="45948" cy="583333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865445" y="1871227"/>
            <a:ext cx="45948" cy="372345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974846" y="1767860"/>
            <a:ext cx="45948" cy="579079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4248" y="1703192"/>
            <a:ext cx="45948" cy="708414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193649" y="1687227"/>
            <a:ext cx="45948" cy="740344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303050" y="1717425"/>
            <a:ext cx="45948" cy="679949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412452" y="1781022"/>
            <a:ext cx="45948" cy="552755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521853" y="1860141"/>
            <a:ext cx="45948" cy="394516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631255" y="1937691"/>
            <a:ext cx="45948" cy="239416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40656" y="1985414"/>
            <a:ext cx="45948" cy="143971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850058" y="1956274"/>
            <a:ext cx="45948" cy="202250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959459" y="1937405"/>
            <a:ext cx="45948" cy="23998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1068860" y="1924603"/>
            <a:ext cx="45948" cy="265592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83296" y="2834640"/>
            <a:ext cx="18288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7FAFC"/>
                </a:solidFill>
                <a:latin typeface="Avenir Next"/>
              </a:rPr>
              <a:t>hello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8360" y="2926080"/>
            <a:ext cx="13898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expected phones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83296" y="3493008"/>
            <a:ext cx="667512" cy="804672"/>
          </a:xfrm>
          <a:prstGeom prst="roundRect">
            <a:avLst/>
          </a:prstGeom>
          <a:solidFill>
            <a:srgbClr val="173047"/>
          </a:solidFill>
          <a:ln w="17780">
            <a:solidFill>
              <a:srgbClr val="A8E0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83296" y="3566160"/>
            <a:ext cx="6675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AFC"/>
                </a:solidFill>
                <a:latin typeface="Avenir Next"/>
              </a:rPr>
              <a:t>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83296" y="3931920"/>
            <a:ext cx="667512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E063"/>
                </a:solidFill>
                <a:latin typeface="Avenir Next"/>
              </a:rPr>
              <a:t>92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897112" y="3493008"/>
            <a:ext cx="667512" cy="804672"/>
          </a:xfrm>
          <a:prstGeom prst="roundRect">
            <a:avLst/>
          </a:prstGeom>
          <a:solidFill>
            <a:srgbClr val="173047"/>
          </a:solidFill>
          <a:ln w="1778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97112" y="3566160"/>
            <a:ext cx="6675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AFC"/>
                </a:solidFill>
                <a:latin typeface="Avenir Next"/>
              </a:rPr>
              <a:t>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97112" y="3931920"/>
            <a:ext cx="667512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C857"/>
                </a:solidFill>
                <a:latin typeface="Avenir Next"/>
              </a:rPr>
              <a:t>45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710928" y="3493008"/>
            <a:ext cx="667512" cy="804672"/>
          </a:xfrm>
          <a:prstGeom prst="roundRect">
            <a:avLst/>
          </a:prstGeom>
          <a:solidFill>
            <a:srgbClr val="173047"/>
          </a:solidFill>
          <a:ln w="17780">
            <a:solidFill>
              <a:srgbClr val="A8E0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10928" y="3566160"/>
            <a:ext cx="6675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AFC"/>
                </a:solidFill>
                <a:latin typeface="Avenir Next"/>
              </a:rPr>
              <a:t>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10928" y="3931920"/>
            <a:ext cx="667512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E063"/>
                </a:solidFill>
                <a:latin typeface="Avenir Next"/>
              </a:rPr>
              <a:t>89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524744" y="3493008"/>
            <a:ext cx="667512" cy="804672"/>
          </a:xfrm>
          <a:prstGeom prst="roundRect">
            <a:avLst/>
          </a:prstGeom>
          <a:solidFill>
            <a:srgbClr val="173047"/>
          </a:solidFill>
          <a:ln w="17780">
            <a:solidFill>
              <a:srgbClr val="FF92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524744" y="3566160"/>
            <a:ext cx="6675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AFC"/>
                </a:solidFill>
                <a:latin typeface="Avenir Next"/>
              </a:rPr>
              <a:t>oʊ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24744" y="3931920"/>
            <a:ext cx="667512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9274"/>
                </a:solidFill>
                <a:latin typeface="Avenir Next"/>
              </a:rPr>
              <a:t>12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83296" y="4736592"/>
            <a:ext cx="3063240" cy="749808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66175" y="4919472"/>
            <a:ext cx="26974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3B7FF"/>
                </a:solidFill>
                <a:latin typeface="Menlo"/>
              </a:rPr>
              <a:t>Score = 50 × [P(Y≥1) + P(Y≥2)]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83296" y="5715000"/>
            <a:ext cx="30632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Source: challenge brief example; scores shown are illustrative.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The task: localize pronunciation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828800"/>
            <a:ext cx="2816352" cy="2148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9536" y="2011680"/>
            <a:ext cx="493776" cy="29260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020824"/>
            <a:ext cx="40233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1321"/>
                </a:solidFill>
                <a:latin typeface="Avenir Nex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532888"/>
            <a:ext cx="2331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7FAFC"/>
                </a:solidFill>
                <a:latin typeface="Avenir Next"/>
              </a:rPr>
              <a:t>Speech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063240"/>
            <a:ext cx="2359152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EB0C3"/>
                </a:solidFill>
                <a:latin typeface="Avenir Next"/>
              </a:rPr>
              <a:t>Record or upload
a learner utterance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1828800"/>
            <a:ext cx="2816352" cy="2148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79392" y="2011680"/>
            <a:ext cx="493776" cy="292608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2020824"/>
            <a:ext cx="40233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1321"/>
                </a:solidFill>
                <a:latin typeface="Avenir Nex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532888"/>
            <a:ext cx="2331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7FAFC"/>
                </a:solidFill>
                <a:latin typeface="Avenir Next"/>
              </a:rPr>
              <a:t>Expected phones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3063240"/>
            <a:ext cx="2359152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EB0C3"/>
                </a:solidFill>
                <a:latin typeface="Avenir Next"/>
              </a:rPr>
              <a:t>The intended phone
sequence—no timestamps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828800"/>
            <a:ext cx="2816352" cy="2148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99248" y="2011680"/>
            <a:ext cx="493776" cy="292608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44968" y="2020824"/>
            <a:ext cx="40233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1321"/>
                </a:solidFill>
                <a:latin typeface="Avenir Nex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2532888"/>
            <a:ext cx="2331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7FAFC"/>
                </a:solidFill>
                <a:latin typeface="Avenir Next"/>
              </a:rPr>
              <a:t>Phone scores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3063240"/>
            <a:ext cx="2359152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EB0C3"/>
                </a:solidFill>
                <a:latin typeface="Avenir Next"/>
              </a:rPr>
              <a:t>One continuous 0–100
score per expected phone</a:t>
            </a:r>
          </a:p>
        </p:txBody>
      </p:sp>
      <p:sp>
        <p:nvSpPr>
          <p:cNvPr id="21" name="Chevron 20"/>
          <p:cNvSpPr/>
          <p:nvPr/>
        </p:nvSpPr>
        <p:spPr>
          <a:xfrm>
            <a:off x="3602736" y="2578608"/>
            <a:ext cx="310896" cy="640080"/>
          </a:xfrm>
          <a:prstGeom prst="chevron">
            <a:avLst/>
          </a:prstGeom>
          <a:solidFill>
            <a:srgbClr val="284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7022592" y="2578608"/>
            <a:ext cx="310896" cy="640080"/>
          </a:xfrm>
          <a:prstGeom prst="chevron">
            <a:avLst/>
          </a:prstGeom>
          <a:solidFill>
            <a:srgbClr val="284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416552"/>
            <a:ext cx="3017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7FAFC"/>
                </a:solidFill>
                <a:latin typeface="Avenir Next"/>
              </a:rPr>
              <a:t>What makes it difficult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" y="5001768"/>
            <a:ext cx="91440" cy="91440"/>
          </a:xfrm>
          <a:prstGeom prst="ellipse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92040"/>
            <a:ext cx="3291839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7FAFC"/>
                </a:solidFill>
                <a:latin typeface="Avenir Next"/>
              </a:rPr>
              <a:t>Labels are ordered (0 &lt; 1 &lt; 2), but output must be continuous.</a:t>
            </a:r>
          </a:p>
        </p:txBody>
      </p:sp>
      <p:sp>
        <p:nvSpPr>
          <p:cNvPr id="26" name="Oval 25"/>
          <p:cNvSpPr/>
          <p:nvPr/>
        </p:nvSpPr>
        <p:spPr>
          <a:xfrm>
            <a:off x="4169663" y="5001768"/>
            <a:ext cx="91440" cy="91440"/>
          </a:xfrm>
          <a:prstGeom prst="ellipse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52544" y="4892040"/>
            <a:ext cx="320040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7FAFC"/>
                </a:solidFill>
                <a:latin typeface="Avenir Next"/>
              </a:rPr>
              <a:t>Phone boundaries are absent and must be inferred from audio.</a:t>
            </a:r>
          </a:p>
        </p:txBody>
      </p:sp>
      <p:sp>
        <p:nvSpPr>
          <p:cNvPr id="28" name="Oval 27"/>
          <p:cNvSpPr/>
          <p:nvPr/>
        </p:nvSpPr>
        <p:spPr>
          <a:xfrm>
            <a:off x="7571231" y="5001768"/>
            <a:ext cx="91440" cy="91440"/>
          </a:xfrm>
          <a:prstGeom prst="ellipse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54111" y="4892040"/>
            <a:ext cx="3127248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7FAFC"/>
                </a:solidFill>
                <a:latin typeface="Avenir Next"/>
              </a:rPr>
              <a:t>The majority label dominates, so raw accuracy is misleading.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96712"/>
            <a:ext cx="10881360" cy="502920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833872"/>
            <a:ext cx="112471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Product question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1" y="5769864"/>
            <a:ext cx="9125712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7FAFC"/>
                </a:solidFill>
                <a:latin typeface="Avenir Next"/>
              </a:rPr>
              <a:t>Where did this realization sound less American-like—and what should the learner practice next?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data/phone-scoring-ml-challenge.md; submission/WRITEUP.md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The data is small—and heavily imbalanced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9808" y="1764792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TRAIN LABEL DISTRIBUTION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1248" y="5056632"/>
            <a:ext cx="5166360" cy="0"/>
          </a:xfrm>
          <a:prstGeom prst="line">
            <a:avLst/>
          </a:prstGeom>
          <a:ln w="1905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316736" y="4638252"/>
            <a:ext cx="841248" cy="418379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7" y="4299924"/>
            <a:ext cx="106070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9274"/>
                </a:solidFill>
                <a:latin typeface="Avenir Next"/>
              </a:rPr>
              <a:t>12.23%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5184648"/>
            <a:ext cx="38404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AFC"/>
                </a:solidFill>
                <a:latin typeface="Avenir Next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5477256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heavily accented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4787062"/>
            <a:ext cx="841248" cy="269569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4448734"/>
            <a:ext cx="106070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C857"/>
                </a:solidFill>
                <a:latin typeface="Avenir Next"/>
              </a:rPr>
              <a:t>7.88%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5184648"/>
            <a:ext cx="38404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AFC"/>
                </a:solidFill>
                <a:latin typeface="Avenir Next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5477256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understandable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62272" y="2323649"/>
            <a:ext cx="841248" cy="2732982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544" y="1985321"/>
            <a:ext cx="106070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FE3D2"/>
                </a:solidFill>
                <a:latin typeface="Avenir Next"/>
              </a:rPr>
              <a:t>79.89%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5184648"/>
            <a:ext cx="38404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AFC"/>
                </a:solidFill>
                <a:latin typeface="Avenir Next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5477256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native-like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19088" y="1792224"/>
            <a:ext cx="2240280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79" y="1929384"/>
            <a:ext cx="1911096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FE3D2"/>
                </a:solidFill>
                <a:latin typeface="Avenir Next"/>
              </a:rPr>
              <a:t>2,799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79" y="2432304"/>
            <a:ext cx="191109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TRAIN UTTERANCES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97112" y="1792224"/>
            <a:ext cx="2240280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61704" y="1929384"/>
            <a:ext cx="1911096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3B7FF"/>
                </a:solidFill>
                <a:latin typeface="Avenir Next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1704" y="2432304"/>
            <a:ext cx="191109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VALIDATION UTTERANCES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19088" y="3054096"/>
            <a:ext cx="2240280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79" y="3191256"/>
            <a:ext cx="1911096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C857"/>
                </a:solidFill>
                <a:latin typeface="Avenir Next"/>
              </a:rPr>
              <a:t>90,239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79" y="3694176"/>
            <a:ext cx="191109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LABELED PHONES TOTAL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97112" y="3054096"/>
            <a:ext cx="2240280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61704" y="3191256"/>
            <a:ext cx="1911096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9274"/>
                </a:solidFill>
                <a:latin typeface="Avenir Next"/>
              </a:rPr>
              <a:t>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61704" y="3694176"/>
            <a:ext cx="191109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PHONE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19088" y="4334256"/>
            <a:ext cx="4718304" cy="1024128"/>
          </a:xfrm>
          <a:prstGeom prst="roundRect">
            <a:avLst/>
          </a:prstGeom>
          <a:solidFill>
            <a:srgbClr val="173047"/>
          </a:solidFill>
          <a:ln w="16510">
            <a:solidFill>
              <a:srgbClr val="FF92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6832" y="4517136"/>
            <a:ext cx="13258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9274"/>
                </a:solidFill>
                <a:latin typeface="Avenir Next"/>
              </a:rPr>
              <a:t>79.47%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4489704"/>
            <a:ext cx="2816352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FAFC"/>
                </a:solidFill>
                <a:latin typeface="Avenir Next"/>
              </a:rPr>
              <a:t>validation accuracy by always predicting “native-like”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4965192"/>
            <a:ext cx="281635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EB0C3"/>
                </a:solidFill>
                <a:latin typeface="Avenir Next"/>
              </a:rPr>
              <a:t>Yet recall for labels 0 and 1 is zero.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5797296"/>
            <a:ext cx="1700784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" y="5806440"/>
            <a:ext cx="160934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NO PHONE TIMESTAMPS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96896" y="5797296"/>
            <a:ext cx="1298448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42615" y="5806440"/>
            <a:ext cx="1207007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NO SPEAKER IDs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41648" y="5797296"/>
            <a:ext cx="1664208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87368" y="5806440"/>
            <a:ext cx="157276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NO RATER AGREEMENT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98464" y="5833872"/>
            <a:ext cx="51206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FAFC"/>
                </a:solidFill>
                <a:latin typeface="Avenir Next"/>
              </a:rPr>
              <a:t>These gaps shape both modeling and evaluation.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data/README.md; submission/WRITEUP.md; submission/model/metrics.json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Architecture: align first, then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03504" y="1874519"/>
            <a:ext cx="1682496" cy="23774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2048256"/>
            <a:ext cx="438912" cy="29260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57400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60904"/>
            <a:ext cx="13716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AFC"/>
                </a:solidFill>
                <a:latin typeface="Avenir Next"/>
              </a:rPr>
              <a:t>Audio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255264"/>
            <a:ext cx="137160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16 kHz
waveform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86000" y="3054096"/>
            <a:ext cx="155448" cy="0"/>
          </a:xfrm>
          <a:prstGeom prst="line">
            <a:avLst/>
          </a:prstGeom>
          <a:ln w="25400">
            <a:solidFill>
              <a:srgbClr val="5FE3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41448" y="1874519"/>
            <a:ext cx="1682496" cy="23774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96896" y="2048256"/>
            <a:ext cx="438912" cy="292608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2616" y="2057400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6896" y="2660904"/>
            <a:ext cx="13716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AFC"/>
                </a:solidFill>
                <a:latin typeface="Avenir Next"/>
              </a:rPr>
              <a:t>Whisper-tiny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6896" y="3255264"/>
            <a:ext cx="137160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Frozen 384-d
encoder states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123944" y="3054096"/>
            <a:ext cx="155448" cy="0"/>
          </a:xfrm>
          <a:prstGeom prst="line">
            <a:avLst/>
          </a:prstGeom>
          <a:ln w="25400">
            <a:solidFill>
              <a:srgbClr val="73B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79392" y="1874519"/>
            <a:ext cx="1682496" cy="23774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34840" y="2048256"/>
            <a:ext cx="438912" cy="292608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2057400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660904"/>
            <a:ext cx="13716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AFC"/>
                </a:solidFill>
                <a:latin typeface="Avenir Next"/>
              </a:rPr>
              <a:t>CTC + Viterbi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3255264"/>
            <a:ext cx="137160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45-way head;
constrained spans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61888" y="3054096"/>
            <a:ext cx="155448" cy="0"/>
          </a:xfrm>
          <a:prstGeom prst="line">
            <a:avLst/>
          </a:prstGeom>
          <a:ln w="25400">
            <a:solidFill>
              <a:srgbClr val="FFC8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117336" y="1874519"/>
            <a:ext cx="1682496" cy="23774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72784" y="2048256"/>
            <a:ext cx="438912" cy="292608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18504" y="2057400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2660904"/>
            <a:ext cx="13716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AFC"/>
                </a:solidFill>
                <a:latin typeface="Avenir Next"/>
              </a:rPr>
              <a:t>Phone 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4" y="3255264"/>
            <a:ext cx="137160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mean + std +
4 diagnostics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99832" y="3054096"/>
            <a:ext cx="155448" cy="0"/>
          </a:xfrm>
          <a:prstGeom prst="line">
            <a:avLst/>
          </a:prstGeom>
          <a:ln w="25400">
            <a:solidFill>
              <a:srgbClr val="FF92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955280" y="1874519"/>
            <a:ext cx="1682496" cy="23774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10728" y="2048256"/>
            <a:ext cx="438912" cy="292608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57400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0728" y="2660904"/>
            <a:ext cx="13716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AFC"/>
                </a:solidFill>
                <a:latin typeface="Avenir Next"/>
              </a:rPr>
              <a:t>BiGRU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0728" y="3255264"/>
            <a:ext cx="137160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phone embedding;
2 layers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637776" y="3054096"/>
            <a:ext cx="155448" cy="0"/>
          </a:xfrm>
          <a:prstGeom prst="line">
            <a:avLst/>
          </a:prstGeom>
          <a:ln w="25400">
            <a:solidFill>
              <a:srgbClr val="73B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793224" y="1874519"/>
            <a:ext cx="1682496" cy="23774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948672" y="2048256"/>
            <a:ext cx="438912" cy="29260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94392" y="2057400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48672" y="2660904"/>
            <a:ext cx="13716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AFC"/>
                </a:solidFill>
                <a:latin typeface="Avenir Next"/>
              </a:rPr>
              <a:t>Ordinal head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48672" y="3255264"/>
            <a:ext cx="137160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q₁, q₂ →
score 0–100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4645152"/>
            <a:ext cx="10881360" cy="1143000"/>
          </a:xfrm>
          <a:prstGeom prst="roundRect">
            <a:avLst/>
          </a:prstGeom>
          <a:solidFill>
            <a:srgbClr val="0D1C2D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828032"/>
            <a:ext cx="5486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5FE3D2"/>
                </a:solidFill>
                <a:latin typeface="Avenir Next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72768" y="4892040"/>
            <a:ext cx="144475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7FAFC"/>
                </a:solidFill>
                <a:latin typeface="Avenir Next"/>
              </a:rPr>
              <a:t>CTC epochs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191256" y="4892040"/>
            <a:ext cx="0" cy="630936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547872" y="4828032"/>
            <a:ext cx="5486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3B7FF"/>
                </a:solidFill>
                <a:latin typeface="Avenir Next"/>
              </a:rP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4892040"/>
            <a:ext cx="144475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7FAFC"/>
                </a:solidFill>
                <a:latin typeface="Avenir Next"/>
              </a:rPr>
              <a:t>scorer epochs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824728" y="4892040"/>
            <a:ext cx="0" cy="630936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181344" y="4828032"/>
            <a:ext cx="5486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A8E063"/>
                </a:solidFill>
                <a:latin typeface="Avenir Next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39712" y="4892040"/>
            <a:ext cx="144475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7FAFC"/>
                </a:solidFill>
                <a:latin typeface="Avenir Next"/>
              </a:rPr>
              <a:t>alignment fallbacks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458200" y="4892040"/>
            <a:ext cx="0" cy="630936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814816" y="4828032"/>
            <a:ext cx="5486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C857"/>
                </a:solidFill>
                <a:latin typeface="Avenir Next"/>
              </a:rPr>
              <a:t>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73184" y="4892040"/>
            <a:ext cx="144475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7FAFC"/>
                </a:solidFill>
                <a:latin typeface="Avenir Next"/>
              </a:rPr>
              <a:t>random seed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6112" y="5961888"/>
            <a:ext cx="10332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EB0C3"/>
                </a:solidFill>
                <a:latin typeface="Avenir Next"/>
              </a:rPr>
              <a:t>Training discipline: tune epochs on train-only development data, then restart and fit all 2,799 training utterances.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submission/WRITEUP.md; experiments/E01-production-model/README.md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The objective and metrics match the ordering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764792"/>
            <a:ext cx="5257800" cy="4343400"/>
          </a:xfrm>
          <a:prstGeom prst="roundRect">
            <a:avLst/>
          </a:prstGeom>
          <a:solidFill>
            <a:srgbClr val="0D1C2D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02536"/>
            <a:ext cx="20116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ORDINAL REGRESSION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359152"/>
            <a:ext cx="32918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7FAFC"/>
                </a:solidFill>
                <a:latin typeface="Avenir Next"/>
              </a:rPr>
              <a:t>Two ordered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08376"/>
            <a:ext cx="20116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3B7FF"/>
                </a:solidFill>
                <a:latin typeface="Menlo"/>
              </a:rPr>
              <a:t>q₁ = P(Y ≥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3008376"/>
            <a:ext cx="20116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5FE3D2"/>
                </a:solidFill>
                <a:latin typeface="Menlo"/>
              </a:rPr>
              <a:t>q₂ = P(Y ≥ 2)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25296" y="3858768"/>
            <a:ext cx="4096512" cy="0"/>
          </a:xfrm>
          <a:prstGeom prst="line">
            <a:avLst/>
          </a:prstGeom>
          <a:ln w="381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115568" y="3749039"/>
            <a:ext cx="219456" cy="219456"/>
          </a:xfrm>
          <a:prstGeom prst="ellipse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4096512"/>
            <a:ext cx="4206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9274"/>
                </a:solidFill>
                <a:latin typeface="Avenir Next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425696"/>
            <a:ext cx="113385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heavy</a:t>
            </a:r>
          </a:p>
        </p:txBody>
      </p:sp>
      <p:sp>
        <p:nvSpPr>
          <p:cNvPr id="15" name="Oval 14"/>
          <p:cNvSpPr/>
          <p:nvPr/>
        </p:nvSpPr>
        <p:spPr>
          <a:xfrm>
            <a:off x="3163824" y="3749039"/>
            <a:ext cx="219456" cy="219456"/>
          </a:xfrm>
          <a:prstGeom prst="ellipse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63240" y="4096512"/>
            <a:ext cx="4206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C857"/>
                </a:solidFill>
                <a:latin typeface="Avenir Nex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6624" y="4425696"/>
            <a:ext cx="113385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understandable</a:t>
            </a:r>
          </a:p>
        </p:txBody>
      </p:sp>
      <p:sp>
        <p:nvSpPr>
          <p:cNvPr id="18" name="Oval 17"/>
          <p:cNvSpPr/>
          <p:nvPr/>
        </p:nvSpPr>
        <p:spPr>
          <a:xfrm>
            <a:off x="5212080" y="3749039"/>
            <a:ext cx="219456" cy="219456"/>
          </a:xfrm>
          <a:prstGeom prst="ellipse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4096512"/>
            <a:ext cx="4206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FE3D2"/>
                </a:solidFill>
                <a:latin typeface="Avenir Next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425696"/>
            <a:ext cx="113385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native-like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" y="4974336"/>
            <a:ext cx="4663440" cy="713232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5184648"/>
            <a:ext cx="418795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7FAFC"/>
                </a:solidFill>
                <a:latin typeface="Menlo"/>
              </a:rPr>
              <a:t>score = 50 × (q₁ + q₂)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002536"/>
            <a:ext cx="1645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3B7FF"/>
                </a:solidFill>
                <a:latin typeface="Avenir Next"/>
              </a:rPr>
              <a:t>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2359152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7FAFC"/>
                </a:solidFill>
                <a:latin typeface="Avenir Next"/>
              </a:rPr>
              <a:t>Balanced MAE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56648" y="2414016"/>
            <a:ext cx="1078992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Primary metric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2843784"/>
            <a:ext cx="4690872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EB0C3"/>
                </a:solidFill>
                <a:latin typeface="Avenir Next"/>
              </a:rPr>
              <a:t>Compute MAE within each true label, then average the three class errors equally.</a:t>
            </a:r>
          </a:p>
        </p:txBody>
      </p:sp>
      <p:sp>
        <p:nvSpPr>
          <p:cNvPr id="27" name="Oval 26"/>
          <p:cNvSpPr/>
          <p:nvPr/>
        </p:nvSpPr>
        <p:spPr>
          <a:xfrm>
            <a:off x="6327648" y="3685032"/>
            <a:ext cx="91440" cy="91440"/>
          </a:xfrm>
          <a:prstGeom prst="ellipse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575304"/>
            <a:ext cx="42976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7FAFC"/>
                </a:solidFill>
                <a:latin typeface="Avenir Next"/>
              </a:rPr>
              <a:t>Preserves continuous error magnitude</a:t>
            </a:r>
          </a:p>
        </p:txBody>
      </p:sp>
      <p:sp>
        <p:nvSpPr>
          <p:cNvPr id="29" name="Oval 28"/>
          <p:cNvSpPr/>
          <p:nvPr/>
        </p:nvSpPr>
        <p:spPr>
          <a:xfrm>
            <a:off x="6327648" y="4169664"/>
            <a:ext cx="91440" cy="91440"/>
          </a:xfrm>
          <a:prstGeom prst="ellipse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4059936"/>
            <a:ext cx="42976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7FAFC"/>
                </a:solidFill>
                <a:latin typeface="Avenir Next"/>
              </a:rPr>
              <a:t>Stops the 80% majority class dominating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4636008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AFC"/>
                </a:solidFill>
                <a:latin typeface="Avenir Next"/>
              </a:rPr>
              <a:t>Secondary checks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7648" y="5020056"/>
            <a:ext cx="694944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3368" y="5029200"/>
            <a:ext cx="60350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3B7FF"/>
                </a:solidFill>
                <a:latin typeface="Avenir Next"/>
              </a:rPr>
              <a:t>QWK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50608" y="5020056"/>
            <a:ext cx="1078992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96328" y="5029200"/>
            <a:ext cx="987551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C857"/>
                </a:solidFill>
                <a:latin typeface="Avenir Next"/>
              </a:rPr>
              <a:t>MACRO-F1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57616" y="5020056"/>
            <a:ext cx="1408176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3336" y="5029200"/>
            <a:ext cx="131673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9274"/>
                </a:solidFill>
                <a:latin typeface="Avenir Next"/>
              </a:rPr>
              <a:t>BALANCED ACC.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93808" y="5020056"/>
            <a:ext cx="1060704" cy="292608"/>
          </a:xfrm>
          <a:prstGeom prst="roundRect">
            <a:avLst/>
          </a:prstGeom>
          <a:solidFill>
            <a:srgbClr val="173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39528" y="5029200"/>
            <a:ext cx="969263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FE3D2"/>
                </a:solidFill>
                <a:latin typeface="Avenir Next"/>
              </a:rPr>
              <a:t>SPEARMAN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27648" y="5559552"/>
            <a:ext cx="4626864" cy="502920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9672" y="5705856"/>
            <a:ext cx="42519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7FAFC"/>
                </a:solidFill>
                <a:latin typeface="Avenir Next"/>
              </a:rPr>
              <a:t>Loss weighting: inverse √ class frequency per phone token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submission/WRITEUP.md; submission/accent_score/metrics.py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Validation: audio adds material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9808" y="1728216"/>
            <a:ext cx="3886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BALANCED MAE • LOWER IS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40864"/>
            <a:ext cx="1133856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7FAFC"/>
                </a:solidFill>
                <a:latin typeface="Avenir Next"/>
              </a:rPr>
              <a:t>Always 100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93392" y="2240280"/>
            <a:ext cx="3749039" cy="420624"/>
          </a:xfrm>
          <a:prstGeom prst="round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40280"/>
            <a:ext cx="3749039" cy="420624"/>
          </a:xfrm>
          <a:prstGeom prst="roundRect">
            <a:avLst/>
          </a:prstGeom>
          <a:solidFill>
            <a:srgbClr val="9EB0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79" y="2304288"/>
            <a:ext cx="6400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B0C3"/>
                </a:solidFill>
                <a:latin typeface="Avenir Next"/>
              </a:rPr>
              <a:t>50.00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54096"/>
            <a:ext cx="1133856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7FAFC"/>
                </a:solidFill>
                <a:latin typeface="Avenir Next"/>
              </a:rPr>
              <a:t>Strongest static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93392" y="2953512"/>
            <a:ext cx="3749039" cy="420624"/>
          </a:xfrm>
          <a:prstGeom prst="round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93392" y="2953512"/>
            <a:ext cx="2430127" cy="420624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79" y="3017520"/>
            <a:ext cx="6400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9274"/>
                </a:solidFill>
                <a:latin typeface="Avenir Next"/>
              </a:rPr>
              <a:t>32.41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67328"/>
            <a:ext cx="1133856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7FAFC"/>
                </a:solidFill>
                <a:latin typeface="Avenir Next"/>
              </a:rPr>
              <a:t>Sequence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93392" y="3666744"/>
            <a:ext cx="3749039" cy="420624"/>
          </a:xfrm>
          <a:prstGeom prst="round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993392" y="3666744"/>
            <a:ext cx="2401635" cy="420624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79" y="3730752"/>
            <a:ext cx="6400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C857"/>
                </a:solidFill>
                <a:latin typeface="Avenir Next"/>
              </a:rPr>
              <a:t>32.03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1133856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7FAFC"/>
                </a:solidFill>
                <a:latin typeface="Avenir Next"/>
              </a:rPr>
              <a:t>Selected acoustic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93392" y="4379976"/>
            <a:ext cx="3749039" cy="420624"/>
          </a:xfrm>
          <a:prstGeom prst="round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93392" y="4379976"/>
            <a:ext cx="1692316" cy="420624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7879" y="4443984"/>
            <a:ext cx="6400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FE3D2"/>
                </a:solidFill>
                <a:latin typeface="Avenir Next"/>
              </a:rPr>
              <a:t>22.57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330952"/>
            <a:ext cx="5303520" cy="603504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468112"/>
            <a:ext cx="950976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FE3D2"/>
                </a:solidFill>
                <a:latin typeface="Avenir Next"/>
              </a:rPr>
              <a:t>−9.454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75104" y="5486400"/>
            <a:ext cx="2505456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7FAFC"/>
                </a:solidFill>
                <a:latin typeface="Avenir Next"/>
              </a:rPr>
              <a:t>balanced-MAE points vs sequence-only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3087" y="5504688"/>
            <a:ext cx="166420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95% CI [−10.556, −8.282]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1810512"/>
            <a:ext cx="2157984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1947672"/>
            <a:ext cx="18288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3B7FF"/>
                </a:solidFill>
                <a:latin typeface="Avenir Next"/>
              </a:rPr>
              <a:t>17.92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2450591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OVERALL MAE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51392" y="1810512"/>
            <a:ext cx="2157984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15984" y="1947672"/>
            <a:ext cx="18288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FE3D2"/>
                </a:solidFill>
                <a:latin typeface="Avenir Next"/>
              </a:rPr>
              <a:t>0.584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5984" y="2450591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QUADRATIC-WEIGHTED KAPPA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46520" y="3072384"/>
            <a:ext cx="2157984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1112" y="3209544"/>
            <a:ext cx="18288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C857"/>
                </a:solidFill>
                <a:latin typeface="Avenir Next"/>
              </a:rPr>
              <a:t>0.565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1112" y="3712463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MACRO-F1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51392" y="3072384"/>
            <a:ext cx="2157984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15984" y="3209544"/>
            <a:ext cx="18288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9274"/>
                </a:solidFill>
                <a:latin typeface="Avenir Next"/>
              </a:rPr>
              <a:t>0.551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15984" y="3712463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SPEARMAN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46520" y="4370832"/>
            <a:ext cx="4562856" cy="1143000"/>
          </a:xfrm>
          <a:prstGeom prst="roundRect">
            <a:avLst/>
          </a:prstGeom>
          <a:solidFill>
            <a:srgbClr val="0D1C2D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4590288"/>
            <a:ext cx="228600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AFC"/>
                </a:solidFill>
                <a:latin typeface="Avenir Next"/>
              </a:rPr>
              <a:t>2,996 validation phones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029200"/>
            <a:ext cx="404164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EB0C3"/>
                </a:solidFill>
                <a:latin typeface="Avenir Next"/>
              </a:rPr>
              <a:t>10,000-draw utterance-bootstrap CI: 21.42–23.80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46520" y="5687568"/>
            <a:ext cx="4562856" cy="438912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FF92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5797296"/>
            <a:ext cx="4206240" cy="1920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9274"/>
                </a:solidFill>
                <a:latin typeface="Avenir Next"/>
              </a:rPr>
              <a:t>Important: this split is overlap-heavy—not new-speaker evidence.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submission/model/metrics.json; submission/WRITEUP.md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What I tried—and deliberately did not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764792"/>
            <a:ext cx="3410712" cy="30632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7" y="1965960"/>
            <a:ext cx="896112" cy="292608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975103"/>
            <a:ext cx="8046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81321"/>
                </a:solidFill>
                <a:latin typeface="Avenir Next"/>
              </a:rPr>
              <a:t>REJECTED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496312"/>
            <a:ext cx="3044952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7FAFC"/>
                </a:solidFill>
                <a:latin typeface="Avenir Next"/>
              </a:rPr>
              <a:t>Bigger encoder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172968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3B7FF"/>
                </a:solidFill>
                <a:latin typeface="Avenir Next"/>
              </a:rPr>
              <a:t>25.60 vs 22.57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758184"/>
            <a:ext cx="3044952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Whisper-small worsened balanced MAE; no small-specific hyperparameter retuning was run.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64792"/>
            <a:ext cx="3410712" cy="30632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965960"/>
            <a:ext cx="896112" cy="292608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75103"/>
            <a:ext cx="8046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81321"/>
                </a:solidFill>
                <a:latin typeface="Avenir Next"/>
              </a:rPr>
              <a:t>REJECTED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96312"/>
            <a:ext cx="3044952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7FAFC"/>
                </a:solidFill>
                <a:latin typeface="Avenir Next"/>
              </a:rPr>
              <a:t>Auxiliary labels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172968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C857"/>
                </a:solidFill>
                <a:latin typeface="Avenir Next"/>
              </a:rPr>
              <a:t>+0.039 BM delta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758184"/>
            <a:ext cx="3044952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Severity and cluster targets produced no reliable gain; class-0 MAE worsened.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1764792"/>
            <a:ext cx="3410712" cy="30632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02752" y="1965960"/>
            <a:ext cx="896112" cy="292608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1975103"/>
            <a:ext cx="8046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81321"/>
                </a:solidFill>
                <a:latin typeface="Avenir Next"/>
              </a:rPr>
              <a:t>REJECTED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496312"/>
            <a:ext cx="3044952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7FAFC"/>
                </a:solidFill>
                <a:latin typeface="Avenir Next"/>
              </a:rPr>
              <a:t>Full inverse weights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3172968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9274"/>
                </a:solidFill>
                <a:latin typeface="Avenir Next"/>
              </a:rPr>
              <a:t>BM −2.02 • MAE +3.86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3758184"/>
            <a:ext cx="3044952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Rare-class recall improved, but QWK, macro-F1, majority recall, and calibration regressed.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157216"/>
            <a:ext cx="10872216" cy="841248"/>
          </a:xfrm>
          <a:prstGeom prst="roundRect">
            <a:avLst/>
          </a:prstGeom>
          <a:solidFill>
            <a:srgbClr val="173047"/>
          </a:solidFill>
          <a:ln w="1651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6112" y="5422392"/>
            <a:ext cx="859536" cy="29260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431536"/>
            <a:ext cx="76809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81321"/>
                </a:solidFill>
                <a:latin typeface="Avenir Next"/>
              </a:rPr>
              <a:t>SELECTED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5330952"/>
            <a:ext cx="782726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FAFC"/>
                </a:solidFill>
                <a:latin typeface="Avenir Next"/>
              </a:rPr>
              <a:t>Frozen Whisper-tiny + constrained CTC + inverse-√ weighted ordinal head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687568"/>
            <a:ext cx="7827264" cy="1920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EB0C3"/>
                </a:solidFill>
                <a:latin typeface="Avenir Next"/>
              </a:rPr>
              <a:t>The simplest controlled candidate had the best overall trade-off.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172200"/>
            <a:ext cx="1087221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9EB0C3"/>
                </a:solidFill>
                <a:latin typeface="Avenir Next"/>
              </a:rPr>
              <a:t>Each result comes from its documented protocol; this is not a single shared leaderboard.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experiments/E02-whisper-small; E05-auxiliary-labels; E06-scorer-objectives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The largest risk is the validation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58952" y="1755648"/>
            <a:ext cx="233172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PSEUDO-SPEAKER OVERLAP</a:t>
            </a:r>
          </a:p>
        </p:txBody>
      </p:sp>
      <p:sp>
        <p:nvSpPr>
          <p:cNvPr id="7" name="Oval 6"/>
          <p:cNvSpPr/>
          <p:nvPr/>
        </p:nvSpPr>
        <p:spPr>
          <a:xfrm>
            <a:off x="896112" y="2194560"/>
            <a:ext cx="2999232" cy="2999232"/>
          </a:xfrm>
          <a:prstGeom prst="ellipse">
            <a:avLst/>
          </a:prstGeom>
          <a:noFill/>
          <a:ln w="30480">
            <a:solidFill>
              <a:srgbClr val="73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3200" y="2194560"/>
            <a:ext cx="2999232" cy="2999232"/>
          </a:xfrm>
          <a:prstGeom prst="ellipse">
            <a:avLst/>
          </a:prstGeom>
          <a:noFill/>
          <a:ln w="3048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07592" y="2505456"/>
            <a:ext cx="1115568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3B7FF"/>
                </a:solidFill>
                <a:latin typeface="Avenir Next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4528" y="2505456"/>
            <a:ext cx="1115568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FE3D2"/>
                </a:solidFill>
                <a:latin typeface="Avenir Next"/>
              </a:rPr>
              <a:t>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3172968"/>
            <a:ext cx="2286000" cy="1170432"/>
          </a:xfrm>
          <a:prstGeom prst="roundRect">
            <a:avLst/>
          </a:prstGeom>
          <a:solidFill>
            <a:srgbClr val="173047"/>
          </a:solidFill>
          <a:ln w="19050">
            <a:solidFill>
              <a:srgbClr val="FF92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22576" y="3346704"/>
            <a:ext cx="1938528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9274"/>
                </a:solidFill>
                <a:latin typeface="Avenir Next"/>
              </a:rPr>
              <a:t>97 /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2576" y="3822191"/>
            <a:ext cx="193852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7FAFC"/>
                </a:solidFill>
                <a:latin typeface="Avenir Next"/>
              </a:rPr>
              <a:t>validation recordings overlap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5449824"/>
            <a:ext cx="3474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AFC"/>
                </a:solidFill>
                <a:latin typeface="Avenir Next"/>
              </a:rPr>
              <a:t>98.0% of validation phones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5760720"/>
            <a:ext cx="34747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EB0C3"/>
                </a:solidFill>
                <a:latin typeface="Avenir Next"/>
              </a:rPr>
              <a:t>sit inside those inferred voice clusters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764792"/>
            <a:ext cx="4727448" cy="4343400"/>
          </a:xfrm>
          <a:prstGeom prst="roundRect">
            <a:avLst/>
          </a:prstGeom>
          <a:solidFill>
            <a:srgbClr val="0D1C2D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48272" y="2075688"/>
            <a:ext cx="3017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7FAFC"/>
                </a:solidFill>
                <a:latin typeface="Avenir Next"/>
              </a:rPr>
              <a:t>What this changes</a:t>
            </a:r>
          </a:p>
        </p:txBody>
      </p:sp>
      <p:sp>
        <p:nvSpPr>
          <p:cNvPr id="18" name="Oval 17"/>
          <p:cNvSpPr/>
          <p:nvPr/>
        </p:nvSpPr>
        <p:spPr>
          <a:xfrm>
            <a:off x="6766560" y="2880360"/>
            <a:ext cx="91440" cy="91440"/>
          </a:xfrm>
          <a:prstGeom prst="ellipse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770632"/>
            <a:ext cx="3858768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92 / 100 validation prompts also appear in training.</a:t>
            </a:r>
          </a:p>
        </p:txBody>
      </p:sp>
      <p:sp>
        <p:nvSpPr>
          <p:cNvPr id="20" name="Oval 19"/>
          <p:cNvSpPr/>
          <p:nvPr/>
        </p:nvSpPr>
        <p:spPr>
          <a:xfrm>
            <a:off x="6766560" y="3639312"/>
            <a:ext cx="91440" cy="91440"/>
          </a:xfrm>
          <a:prstGeom prst="ellipse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3529584"/>
            <a:ext cx="3858768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Reported metrics describe a partly seen-speaker / seen-prompt distribution.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766560" y="4608576"/>
            <a:ext cx="91440" cy="91440"/>
          </a:xfrm>
          <a:prstGeom prst="ellipse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0" y="4498848"/>
            <a:ext cx="3858768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A speaker-disjoint benchmark is required before making generalization claims.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8272" y="5477256"/>
            <a:ext cx="4096512" cy="36576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12864" y="5568696"/>
            <a:ext cx="3767328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9EB0C3"/>
                </a:solidFill>
                <a:latin typeface="Avenir Next"/>
              </a:rPr>
              <a:t>WavLM clusters are inferred voices—not verified identities.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data/speaker_clusters/report.md; experiments/E03-speaker-leakage/README.md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Sniff test: right direction, weak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09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773936"/>
            <a:ext cx="5266944" cy="4315968"/>
          </a:xfrm>
          <a:prstGeom prst="roundRect">
            <a:avLst/>
          </a:prstGeom>
          <a:solidFill>
            <a:srgbClr val="0D1C2D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02536"/>
            <a:ext cx="26060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CONTROLLED OWN-VOICE 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947672"/>
            <a:ext cx="1078992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FE3D2"/>
                </a:solidFill>
                <a:latin typeface="Avenir Next"/>
              </a:rPr>
              <a:t>+3.13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331720"/>
            <a:ext cx="105156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EB0C3"/>
                </a:solidFill>
                <a:latin typeface="Avenir Next"/>
              </a:rPr>
              <a:t>mean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944368"/>
            <a:ext cx="125272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FAFC"/>
                </a:solidFill>
                <a:latin typeface="Avenir Next"/>
              </a:rPr>
              <a:t>Best American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40864" y="2852928"/>
            <a:ext cx="2898648" cy="457200"/>
          </a:xfrm>
          <a:prstGeom prst="round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40864" y="2852928"/>
            <a:ext cx="2030502" cy="457200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5303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FE3D2"/>
                </a:solidFill>
                <a:latin typeface="Avenir Next"/>
              </a:rPr>
              <a:t>70.05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904487"/>
            <a:ext cx="1252728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FAFC"/>
                </a:solidFill>
                <a:latin typeface="Avenir Next"/>
              </a:rPr>
              <a:t>Non-native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40864" y="3813048"/>
            <a:ext cx="2898648" cy="457200"/>
          </a:xfrm>
          <a:prstGeom prst="round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40864" y="3813048"/>
            <a:ext cx="1939775" cy="457200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886200"/>
            <a:ext cx="5303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9274"/>
                </a:solidFill>
                <a:latin typeface="Avenir Next"/>
              </a:rPr>
              <a:t>66.92</a:t>
            </a:r>
          </a:p>
        </p:txBody>
      </p:sp>
      <p:sp>
        <p:nvSpPr>
          <p:cNvPr id="18" name="Oval 17"/>
          <p:cNvSpPr/>
          <p:nvPr/>
        </p:nvSpPr>
        <p:spPr>
          <a:xfrm>
            <a:off x="950976" y="5056632"/>
            <a:ext cx="91440" cy="91440"/>
          </a:xfrm>
          <a:prstGeom prst="ellipse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4946904"/>
            <a:ext cx="4343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7FAFC"/>
                </a:solidFill>
                <a:latin typeface="Avenir Next"/>
              </a:rPr>
              <a:t>Only 10 / 20 phones moved higher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5513832"/>
            <a:ext cx="91440" cy="91440"/>
          </a:xfrm>
          <a:prstGeom prst="ellipse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3856" y="5404104"/>
            <a:ext cx="4343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7FAFC"/>
                </a:solidFill>
                <a:latin typeface="Avenir Next"/>
              </a:rPr>
              <a:t>Pace differed: 2.76s vs 4.08s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73936"/>
            <a:ext cx="4937760" cy="4315968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2002536"/>
            <a:ext cx="2971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HEAVILY ACCENTED PHONES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2532888"/>
            <a:ext cx="1965960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02552" y="2670048"/>
            <a:ext cx="1636776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FE3D2"/>
                </a:solidFill>
                <a:latin typeface="Avenir Next"/>
              </a:rPr>
              <a:t>43.53%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02552" y="3172968"/>
            <a:ext cx="163677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CORRECTLY SCORED BELOW 25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87384" y="2532888"/>
            <a:ext cx="1965960" cy="1005840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51976" y="2670048"/>
            <a:ext cx="1636776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9274"/>
                </a:solidFill>
                <a:latin typeface="Avenir Next"/>
              </a:rPr>
              <a:t>11.94%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51976" y="3172968"/>
            <a:ext cx="163677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B0C3"/>
                </a:solidFill>
                <a:latin typeface="Avenir Next"/>
              </a:rPr>
              <a:t>INCORRECTLY SCORED ≥ 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867912"/>
            <a:ext cx="19659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AFC"/>
                </a:solidFill>
                <a:latin typeface="Avenir Next"/>
              </a:rPr>
              <a:t>Failure pattern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242816"/>
            <a:ext cx="4224528" cy="9601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EB0C3"/>
                </a:solidFill>
                <a:latin typeface="Avenir Next"/>
              </a:rPr>
              <a:t>The model reacts when accent also hurts expected-phone recognition, but can miss subtler non-American realizations that Whisper still recognizes confidently.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5330952"/>
            <a:ext cx="4224528" cy="429768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FF92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5440680"/>
            <a:ext cx="3858768" cy="1920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9274"/>
                </a:solidFill>
                <a:latin typeface="Avenir Next"/>
              </a:rPr>
              <a:t>Conclusion: marginal utterance-level pass—not a phone-level pass.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submission/docs/SNIFF_TEST.md; experiments/E07 and E08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Automated judges did not validate the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10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947672"/>
            <a:ext cx="3273552" cy="3346704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203704"/>
            <a:ext cx="283464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FAFC"/>
                </a:solidFill>
                <a:latin typeface="Avenir Next"/>
              </a:rPr>
              <a:t>GOPT teacher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98064"/>
            <a:ext cx="2834640" cy="5577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3B7FF"/>
                </a:solidFill>
                <a:latin typeface="Avenir Next"/>
              </a:rPr>
              <a:t>5,863 / 5,894 → label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575304"/>
            <a:ext cx="2834640" cy="103327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EB0C3"/>
                </a:solidFill>
                <a:latin typeface="Avenir Next"/>
              </a:rPr>
              <a:t>Useful ranking signal, but cross-corpus calibration collapsed near native-like; macro-F1 0.299.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" y="4754880"/>
            <a:ext cx="1627632" cy="292608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4764024"/>
            <a:ext cx="153619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81321"/>
                </a:solidFill>
                <a:latin typeface="Avenir Next"/>
              </a:rPr>
              <a:t>NOT SAFE TO RELABEL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1947672"/>
            <a:ext cx="3273552" cy="3346704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203704"/>
            <a:ext cx="283464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FAFC"/>
                </a:solidFill>
                <a:latin typeface="Avenir Next"/>
              </a:rPr>
              <a:t>Local audio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98064"/>
            <a:ext cx="2834640" cy="5577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C857"/>
                </a:solidFill>
                <a:latin typeface="Avenir Next"/>
              </a:rPr>
              <a:t>347 / 347 → label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575304"/>
            <a:ext cx="2834640" cy="103327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EB0C3"/>
                </a:solidFill>
                <a:latin typeface="Avenir Next"/>
              </a:rPr>
              <a:t>Gemma 4 12B passed structure checks but failed the informativeness gate completely.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754880"/>
            <a:ext cx="1627632" cy="292608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4764024"/>
            <a:ext cx="153619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81321"/>
                </a:solidFill>
                <a:latin typeface="Avenir Next"/>
              </a:rPr>
              <a:t>NOT SAFE TO RELABEL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6175" y="1947672"/>
            <a:ext cx="3273552" cy="3346704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7344" y="2203704"/>
            <a:ext cx="283464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FAFC"/>
                </a:solidFill>
                <a:latin typeface="Avenir Next"/>
              </a:rPr>
              <a:t>GPT audio judge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2798064"/>
            <a:ext cx="2834640" cy="5577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9274"/>
                </a:solidFill>
                <a:latin typeface="Avenir Next"/>
              </a:rPr>
              <a:t>40% agreement • 0 label-0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3575304"/>
            <a:ext cx="2834640" cy="103327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EB0C3"/>
                </a:solidFill>
                <a:latin typeface="Avenir Next"/>
              </a:rPr>
              <a:t>Balanced 30-item audit: macro-F1 0.299, QWK 0.143; it remained too lenient.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67344" y="4754880"/>
            <a:ext cx="1627632" cy="292608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3064" y="4764024"/>
            <a:ext cx="153619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81321"/>
                </a:solidFill>
                <a:latin typeface="Avenir Next"/>
              </a:rPr>
              <a:t>NOT SAFE TO RELABEL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623560"/>
            <a:ext cx="10881360" cy="502920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760720"/>
            <a:ext cx="120700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Next valid step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03704" y="5705856"/>
            <a:ext cx="90068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AFC"/>
                </a:solidFill>
                <a:latin typeface="Avenir Next"/>
              </a:rPr>
              <a:t>Blinded expert review. The deterministic packets exist; no human-rating ledger exists yet.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experiments/E09–E13; submission/docs/GOPT_PILOT_RESULTS.md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Demo: turn a score into a practice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719072"/>
            <a:ext cx="6784848" cy="452628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6784848" cy="475488"/>
          </a:xfrm>
          <a:prstGeom prst="rect">
            <a:avLst/>
          </a:prstGeom>
          <a:solidFill>
            <a:srgbClr val="DC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865376"/>
            <a:ext cx="91440" cy="91440"/>
          </a:xfrm>
          <a:prstGeom prst="ellipse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865376"/>
            <a:ext cx="91440" cy="91440"/>
          </a:xfrm>
          <a:prstGeom prst="ellipse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25880" y="1865376"/>
            <a:ext cx="91440" cy="91440"/>
          </a:xfrm>
          <a:prstGeom prst="ellipse">
            <a:avLst/>
          </a:prstGeom>
          <a:solidFill>
            <a:srgbClr val="A8E0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1837943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42033"/>
                </a:solidFill>
                <a:latin typeface="Avenir Next"/>
              </a:rPr>
              <a:t>Pronunciation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78024"/>
            <a:ext cx="192024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2677B"/>
                </a:solidFill>
                <a:latin typeface="Avenir Next"/>
              </a:rPr>
              <a:t>Sentence to practice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2807208"/>
            <a:ext cx="5230368" cy="512064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935224"/>
            <a:ext cx="44348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2033"/>
                </a:solidFill>
                <a:latin typeface="Avenir Next"/>
              </a:rPr>
              <a:t>We are both children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2889504"/>
            <a:ext cx="283464" cy="283464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2926080"/>
            <a:ext cx="28346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7FAFC"/>
                </a:solidFill>
                <a:latin typeface="Avenir Next"/>
              </a:rPr>
              <a:t>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3602736"/>
            <a:ext cx="217627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2677B"/>
                </a:solidFill>
                <a:latin typeface="Avenir Next"/>
              </a:rPr>
              <a:t>Generated phones • editable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81328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81328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75104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75104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68880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62656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62656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56432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56432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oʊ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50208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50208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3984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43984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tʃ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0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7760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31536" y="3922776"/>
            <a:ext cx="393192" cy="393192"/>
          </a:xfrm>
          <a:prstGeom prst="roundRect">
            <a:avLst/>
          </a:prstGeom>
          <a:solidFill>
            <a:srgbClr val="E4EEF4"/>
          </a:solidFill>
          <a:ln w="12700">
            <a:solidFill>
              <a:srgbClr val="C8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31536" y="4014215"/>
            <a:ext cx="3931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2033"/>
                </a:solidFill>
                <a:latin typeface="Avenir Next"/>
              </a:rPr>
              <a:t>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7552" y="4645152"/>
            <a:ext cx="2359152" cy="630936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88720" y="4837176"/>
            <a:ext cx="195681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FAFC"/>
                </a:solidFill>
                <a:latin typeface="Avenir Next"/>
              </a:rPr>
              <a:t>Record / upload audio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84448" y="4645152"/>
            <a:ext cx="2633472" cy="630936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5" y="4837176"/>
            <a:ext cx="223113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42033"/>
                </a:solidFill>
                <a:latin typeface="Avenir Next"/>
              </a:rPr>
              <a:t>Score pronunciation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5577840"/>
            <a:ext cx="10515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2677B"/>
                </a:solidFill>
                <a:latin typeface="Avenir Next"/>
              </a:rPr>
              <a:t>Score bands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01952" y="5532120"/>
            <a:ext cx="164592" cy="164592"/>
          </a:xfrm>
          <a:prstGeom prst="roundRect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30552" y="5513832"/>
            <a:ext cx="859536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2677B"/>
                </a:solidFill>
                <a:latin typeface="Avenir Next"/>
              </a:rPr>
              <a:t>practice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27832" y="5532120"/>
            <a:ext cx="164592" cy="164592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56432" y="5513832"/>
            <a:ext cx="859536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2677B"/>
                </a:solidFill>
                <a:latin typeface="Avenir Next"/>
              </a:rPr>
              <a:t>developing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53712" y="5532120"/>
            <a:ext cx="164592" cy="164592"/>
          </a:xfrm>
          <a:prstGeom prst="roundRect">
            <a:avLst/>
          </a:prstGeom>
          <a:solidFill>
            <a:srgbClr val="A8E0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82312" y="5513832"/>
            <a:ext cx="859536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2677B"/>
                </a:solidFill>
                <a:latin typeface="Avenir Next"/>
              </a:rPr>
              <a:t>strong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36408" y="1810512"/>
            <a:ext cx="28346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7FAFC"/>
                </a:solidFill>
                <a:latin typeface="Avenir Next"/>
              </a:rPr>
              <a:t>Product choices</a:t>
            </a:r>
          </a:p>
        </p:txBody>
      </p:sp>
      <p:sp>
        <p:nvSpPr>
          <p:cNvPr id="50" name="Oval 49"/>
          <p:cNvSpPr/>
          <p:nvPr/>
        </p:nvSpPr>
        <p:spPr>
          <a:xfrm>
            <a:off x="7845552" y="2596896"/>
            <a:ext cx="91440" cy="91440"/>
          </a:xfrm>
          <a:prstGeom prst="ellipse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28431" y="2487168"/>
            <a:ext cx="2907791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Microphone or upload</a:t>
            </a:r>
          </a:p>
        </p:txBody>
      </p:sp>
      <p:sp>
        <p:nvSpPr>
          <p:cNvPr id="52" name="Oval 51"/>
          <p:cNvSpPr/>
          <p:nvPr/>
        </p:nvSpPr>
        <p:spPr>
          <a:xfrm>
            <a:off x="7845552" y="3081528"/>
            <a:ext cx="91440" cy="91440"/>
          </a:xfrm>
          <a:prstGeom prst="ellipse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28431" y="2971800"/>
            <a:ext cx="2907791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Sentence playback</a:t>
            </a:r>
          </a:p>
        </p:txBody>
      </p:sp>
      <p:sp>
        <p:nvSpPr>
          <p:cNvPr id="54" name="Oval 53"/>
          <p:cNvSpPr/>
          <p:nvPr/>
        </p:nvSpPr>
        <p:spPr>
          <a:xfrm>
            <a:off x="7845552" y="3566160"/>
            <a:ext cx="91440" cy="91440"/>
          </a:xfrm>
          <a:prstGeom prst="ellipse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28431" y="3456432"/>
            <a:ext cx="2907791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Automatic, editable phonemes</a:t>
            </a:r>
          </a:p>
        </p:txBody>
      </p:sp>
      <p:sp>
        <p:nvSpPr>
          <p:cNvPr id="56" name="Oval 55"/>
          <p:cNvSpPr/>
          <p:nvPr/>
        </p:nvSpPr>
        <p:spPr>
          <a:xfrm>
            <a:off x="7845552" y="4050791"/>
            <a:ext cx="91440" cy="91440"/>
          </a:xfrm>
          <a:prstGeom prst="ellipse">
            <a:avLst/>
          </a:prstGeom>
          <a:solidFill>
            <a:srgbClr val="FF9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28431" y="3941063"/>
            <a:ext cx="2907791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AFC"/>
                </a:solidFill>
                <a:latin typeface="Avenir Next"/>
              </a:rPr>
              <a:t>Ordered per-phone feedback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845552" y="4626864"/>
            <a:ext cx="3364992" cy="987552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5FE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0" y="4800600"/>
            <a:ext cx="296265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FE3D2"/>
                </a:solidFill>
                <a:latin typeface="Avenir Next"/>
              </a:rPr>
              <a:t>Difficulty ≠ model score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0" y="5166360"/>
            <a:ext cx="2962656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7FAFC"/>
                </a:solidFill>
                <a:latin typeface="Avenir Next"/>
              </a:rPr>
              <a:t>Keep raw scores fixed; adapt only the coaching threshold per phone and learner.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45552" y="5925312"/>
            <a:ext cx="336499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EB0C3"/>
                </a:solidFill>
                <a:latin typeface="Menlo"/>
              </a:rPr>
              <a:t>Run locally:  cd submission  •  uv run python demo_app.py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submission/demo_app.py; submission/README.md; submission/WRITEUP.md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5486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E3D2"/>
                </a:solidFill>
                <a:latin typeface="Avenir Next"/>
              </a:rPr>
              <a:t>PHONE-LEVEL ACCENTEDNESS •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04088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Takeaway: useful signal, honest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9184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EB0C3"/>
                </a:solidFill>
                <a:latin typeface="Avenir Next"/>
              </a:rPr>
              <a:t>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1417320"/>
            <a:ext cx="10945368" cy="0"/>
          </a:xfrm>
          <a:prstGeom prst="line">
            <a:avLst/>
          </a:prstGeom>
          <a:ln w="1270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783080"/>
            <a:ext cx="10716768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7FAFC"/>
                </a:solidFill>
                <a:latin typeface="Avenir Next"/>
              </a:rPr>
              <a:t>The model learned </a:t>
            </a:r>
            <a:r>
              <a:rPr sz="2800" b="1" i="0">
                <a:solidFill>
                  <a:srgbClr val="5FE3D2"/>
                </a:solidFill>
                <a:latin typeface="Avenir Next"/>
              </a:rPr>
              <a:t>useful acoustic signal</a:t>
            </a:r>
            <a:r>
              <a:rPr sz="2800" b="1" i="0">
                <a:solidFill>
                  <a:srgbClr val="F7FAFC"/>
                </a:solidFill>
                <a:latin typeface="Avenir Next"/>
              </a:rPr>
              <a:t>.
The evaluation has not yet proven </a:t>
            </a:r>
            <a:r>
              <a:rPr sz="2800" b="1" i="0">
                <a:solidFill>
                  <a:srgbClr val="FF9274"/>
                </a:solidFill>
                <a:latin typeface="Avenir Next"/>
              </a:rPr>
              <a:t>new-speaker robustness</a:t>
            </a:r>
            <a:r>
              <a:rPr sz="2800" b="1" i="0">
                <a:solidFill>
                  <a:srgbClr val="F7FAFC"/>
                </a:solidFill>
                <a:latin typeface="Avenir Next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172968"/>
            <a:ext cx="3319272" cy="1856231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3374136"/>
            <a:ext cx="457200" cy="292608"/>
          </a:xfrm>
          <a:prstGeom prst="roundRect">
            <a:avLst/>
          </a:prstGeom>
          <a:solidFill>
            <a:srgbClr val="5F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83279"/>
            <a:ext cx="3657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58768"/>
            <a:ext cx="272491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7FAFC"/>
                </a:solidFill>
                <a:latin typeface="Avenir Next"/>
              </a:rPr>
              <a:t>Benchmark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70832"/>
            <a:ext cx="2788920" cy="448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Collect a genuinely speaker-disjoint, expert-rated evaluation 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172968"/>
            <a:ext cx="3319272" cy="1856231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90288" y="3374136"/>
            <a:ext cx="457200" cy="292608"/>
          </a:xfrm>
          <a:prstGeom prst="roundRect">
            <a:avLst/>
          </a:prstGeom>
          <a:solidFill>
            <a:srgbClr val="73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3383279"/>
            <a:ext cx="3657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858768"/>
            <a:ext cx="272491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7FAFC"/>
                </a:solidFill>
                <a:latin typeface="Avenir Next"/>
              </a:rPr>
              <a:t>Calibrate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4370832"/>
            <a:ext cx="2788920" cy="448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Review label disagreements and fit phone-specific calibration with uncertainty.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7" y="3172968"/>
            <a:ext cx="3319272" cy="1856231"/>
          </a:xfrm>
          <a:prstGeom prst="roundRect">
            <a:avLst/>
          </a:prstGeom>
          <a:solidFill>
            <a:srgbClr val="12263A"/>
          </a:solidFill>
          <a:ln w="12700">
            <a:solidFill>
              <a:srgbClr val="284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66175" y="3374136"/>
            <a:ext cx="457200" cy="292608"/>
          </a:xfrm>
          <a:prstGeom prst="round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1896" y="3383279"/>
            <a:ext cx="3657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1321"/>
                </a:solidFill>
                <a:latin typeface="Avenir Next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3858768"/>
            <a:ext cx="272491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7FAFC"/>
                </a:solidFill>
                <a:latin typeface="Avenir Next"/>
              </a:rPr>
              <a:t>Improve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4370832"/>
            <a:ext cx="2788920" cy="448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EB0C3"/>
                </a:solidFill>
                <a:latin typeface="Avenir Next"/>
              </a:rPr>
              <a:t>Test a more accent-sensitive encoder across seeds and matched-pace voice pairs.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5376672"/>
            <a:ext cx="10671048" cy="630936"/>
          </a:xfrm>
          <a:prstGeom prst="roundRect">
            <a:avLst/>
          </a:prstGeom>
          <a:solidFill>
            <a:srgbClr val="173047"/>
          </a:solidFill>
          <a:ln w="12700">
            <a:solidFill>
              <a:srgbClr val="FF92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550408"/>
            <a:ext cx="10241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9274"/>
                </a:solidFill>
                <a:latin typeface="Avenir Next"/>
              </a:rPr>
              <a:t>Ship today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495544"/>
            <a:ext cx="906170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7FAFC"/>
                </a:solidFill>
                <a:latin typeface="Avenir Next"/>
              </a:rPr>
              <a:t>A coaching prototype with visible uncertainty—not a high-stakes judgment of identity, ability, or proficiency.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172200"/>
            <a:ext cx="1067104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FE3D2"/>
                </a:solidFill>
                <a:latin typeface="Avenir Next"/>
              </a:rPr>
              <a:t>Questions  •  discussion  •  live demo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1792" y="6483096"/>
            <a:ext cx="10945368" cy="0"/>
          </a:xfrm>
          <a:prstGeom prst="line">
            <a:avLst/>
          </a:prstGeom>
          <a:ln w="8890">
            <a:solidFill>
              <a:srgbClr val="284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537960"/>
            <a:ext cx="89611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Sources: submission/WRITEUP.md; experiments/README.md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6537960"/>
            <a:ext cx="3108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EB0C3"/>
                </a:solidFill>
                <a:latin typeface="Avenir Next"/>
              </a:rPr>
              <a:t>github.com/aviadarn/Accentedness-Scoring-Challenge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Phone-Level Accentedness Scoring</dc:title>
  <dc:subject>ML take-home challenge presentation</dc:subject>
  <dc:creator>Aviad Arnias</dc:creator>
  <cp:keywords>speech, pronunciation, accentedness, ordinal regression, Whisper</cp:keywords>
  <dc:description>Generated from presentation/generate_slides.py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