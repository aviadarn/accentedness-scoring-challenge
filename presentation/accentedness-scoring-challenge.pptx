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49640" y="-320040"/>
            <a:ext cx="4160520" cy="4160520"/>
          </a:xfrm>
          <a:prstGeom prst="ellipse">
            <a:avLst/>
          </a:prstGeom>
          <a:noFill/>
          <a:ln w="1778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326880" y="4526280"/>
            <a:ext cx="3108960" cy="3108960"/>
          </a:xfrm>
          <a:prstGeom prst="ellipse">
            <a:avLst/>
          </a:prstGeom>
          <a:noFill/>
          <a:ln w="13970">
            <a:solidFill>
              <a:srgbClr val="5FE3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530352"/>
            <a:ext cx="34747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5FE3D2"/>
                </a:solidFill>
                <a:latin typeface="Avenir Next"/>
              </a:rPr>
              <a:t>ML TAKE-HOME •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097280"/>
            <a:ext cx="6766560" cy="15727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F7FAFC"/>
                </a:solidFill>
                <a:latin typeface="Avenir Next"/>
              </a:rPr>
              <a:t>Phone-level
accentedness scoring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889504"/>
            <a:ext cx="1051560" cy="73152"/>
          </a:xfrm>
          <a:prstGeom prst="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3163824"/>
            <a:ext cx="6309360" cy="8046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9EB0C3"/>
                </a:solidFill>
                <a:latin typeface="Avenir Next"/>
              </a:rPr>
              <a:t>From speech and expected phonemes to an interpretable
0–100 score for every sound.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24528"/>
            <a:ext cx="1481328" cy="292608"/>
          </a:xfrm>
          <a:prstGeom prst="roundRect">
            <a:avLst/>
          </a:prstGeom>
          <a:solidFill>
            <a:srgbClr val="173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4233672"/>
            <a:ext cx="1389888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5FE3D2"/>
                </a:solidFill>
                <a:latin typeface="Avenir Next"/>
              </a:rPr>
              <a:t>AUDIO + PHONES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86000" y="4224528"/>
            <a:ext cx="1481328" cy="292608"/>
          </a:xfrm>
          <a:prstGeom prst="roundRect">
            <a:avLst/>
          </a:prstGeom>
          <a:solidFill>
            <a:srgbClr val="173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31720" y="4233672"/>
            <a:ext cx="1389888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3B7FF"/>
                </a:solidFill>
                <a:latin typeface="Avenir Next"/>
              </a:rPr>
              <a:t>ORDINAL MODEL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13632" y="4224528"/>
            <a:ext cx="1417320" cy="292608"/>
          </a:xfrm>
          <a:prstGeom prst="roundRect">
            <a:avLst/>
          </a:prstGeom>
          <a:solidFill>
            <a:srgbClr val="173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59352" y="4233672"/>
            <a:ext cx="132588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9274"/>
                </a:solidFill>
                <a:latin typeface="Avenir Next"/>
              </a:rPr>
              <a:t>GRADIO DEMO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650992"/>
            <a:ext cx="274320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7FAFC"/>
                </a:solidFill>
                <a:latin typeface="Avenir Next"/>
              </a:rPr>
              <a:t>Aviad Arnias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007608"/>
            <a:ext cx="42062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EB0C3"/>
                </a:solidFill>
                <a:latin typeface="Avenir Next"/>
              </a:rPr>
              <a:t>Modeling • evaluation • product demo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54112" y="713232"/>
            <a:ext cx="3767328" cy="5349240"/>
          </a:xfrm>
          <a:prstGeom prst="roundRect">
            <a:avLst/>
          </a:prstGeom>
          <a:solidFill>
            <a:srgbClr val="0D1C2D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1033271"/>
            <a:ext cx="23317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EB0C3"/>
                </a:solidFill>
                <a:latin typeface="Avenir Next"/>
              </a:rPr>
              <a:t>ILLUSTRATIVE OUTPUT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5022" y="2009393"/>
            <a:ext cx="45948" cy="96012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24423" y="1971928"/>
            <a:ext cx="45948" cy="170942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333825" y="1929395"/>
            <a:ext cx="45948" cy="256008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43226" y="1883933"/>
            <a:ext cx="45948" cy="346933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552628" y="1842894"/>
            <a:ext cx="45948" cy="429011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2029" y="1817728"/>
            <a:ext cx="45948" cy="479342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771430" y="1820276"/>
            <a:ext cx="45948" cy="474247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80832" y="1857796"/>
            <a:ext cx="45948" cy="399206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990233" y="1917098"/>
            <a:ext cx="45948" cy="280603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99635" y="1796168"/>
            <a:ext cx="45948" cy="522462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209036" y="1678126"/>
            <a:ext cx="45948" cy="758547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318438" y="1588261"/>
            <a:ext cx="45948" cy="938276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427839" y="1547974"/>
            <a:ext cx="45948" cy="1018851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537240" y="1568327"/>
            <a:ext cx="45948" cy="978145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646642" y="1646398"/>
            <a:ext cx="45948" cy="822003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756043" y="1765733"/>
            <a:ext cx="45948" cy="583333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865445" y="1871227"/>
            <a:ext cx="45948" cy="372345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974846" y="1767860"/>
            <a:ext cx="45948" cy="579079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0084248" y="1703192"/>
            <a:ext cx="45948" cy="708414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193649" y="1687227"/>
            <a:ext cx="45948" cy="740344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303050" y="1717425"/>
            <a:ext cx="45948" cy="679949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0412452" y="1781022"/>
            <a:ext cx="45948" cy="552755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0521853" y="1860141"/>
            <a:ext cx="45948" cy="394516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631255" y="1937691"/>
            <a:ext cx="45948" cy="239416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0740656" y="1985414"/>
            <a:ext cx="45948" cy="143971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0850058" y="1956274"/>
            <a:ext cx="45948" cy="202250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0959459" y="1937405"/>
            <a:ext cx="45948" cy="239988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1068860" y="1924603"/>
            <a:ext cx="45948" cy="265592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83296" y="2834640"/>
            <a:ext cx="18288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7FAFC"/>
                </a:solidFill>
                <a:latin typeface="Avenir Next"/>
              </a:rPr>
              <a:t>hello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38360" y="2926080"/>
            <a:ext cx="1389888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EB0C3"/>
                </a:solidFill>
                <a:latin typeface="Avenir Next"/>
              </a:rPr>
              <a:t>expected phones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083296" y="3493008"/>
            <a:ext cx="667512" cy="804672"/>
          </a:xfrm>
          <a:prstGeom prst="roundRect">
            <a:avLst/>
          </a:prstGeom>
          <a:solidFill>
            <a:srgbClr val="173047"/>
          </a:solidFill>
          <a:ln w="17780">
            <a:solidFill>
              <a:srgbClr val="A8E0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83296" y="3566160"/>
            <a:ext cx="66751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7FAFC"/>
                </a:solidFill>
                <a:latin typeface="Avenir Next"/>
              </a:rPr>
              <a:t>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83296" y="3931920"/>
            <a:ext cx="667512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8E063"/>
                </a:solidFill>
                <a:latin typeface="Avenir Next"/>
              </a:rPr>
              <a:t>92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897112" y="3493008"/>
            <a:ext cx="667512" cy="804672"/>
          </a:xfrm>
          <a:prstGeom prst="roundRect">
            <a:avLst/>
          </a:prstGeom>
          <a:solidFill>
            <a:srgbClr val="173047"/>
          </a:solidFill>
          <a:ln w="17780"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97112" y="3566160"/>
            <a:ext cx="66751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7FAFC"/>
                </a:solidFill>
                <a:latin typeface="Avenir Next"/>
              </a:rPr>
              <a:t>ə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97112" y="3931920"/>
            <a:ext cx="667512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C857"/>
                </a:solidFill>
                <a:latin typeface="Avenir Next"/>
              </a:rPr>
              <a:t>45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710928" y="3493008"/>
            <a:ext cx="667512" cy="804672"/>
          </a:xfrm>
          <a:prstGeom prst="roundRect">
            <a:avLst/>
          </a:prstGeom>
          <a:solidFill>
            <a:srgbClr val="173047"/>
          </a:solidFill>
          <a:ln w="17780">
            <a:solidFill>
              <a:srgbClr val="A8E0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710928" y="3566160"/>
            <a:ext cx="66751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7FAFC"/>
                </a:solidFill>
                <a:latin typeface="Avenir Next"/>
              </a:rPr>
              <a:t>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710928" y="3931920"/>
            <a:ext cx="667512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8E063"/>
                </a:solidFill>
                <a:latin typeface="Avenir Next"/>
              </a:rPr>
              <a:t>89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524744" y="3493008"/>
            <a:ext cx="667512" cy="804672"/>
          </a:xfrm>
          <a:prstGeom prst="roundRect">
            <a:avLst/>
          </a:prstGeom>
          <a:solidFill>
            <a:srgbClr val="173047"/>
          </a:solidFill>
          <a:ln w="17780">
            <a:solidFill>
              <a:srgbClr val="FF92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524744" y="3566160"/>
            <a:ext cx="66751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7FAFC"/>
                </a:solidFill>
                <a:latin typeface="Avenir Next"/>
              </a:rPr>
              <a:t>oʊ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524744" y="3931920"/>
            <a:ext cx="667512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9274"/>
                </a:solidFill>
                <a:latin typeface="Avenir Next"/>
              </a:rPr>
              <a:t>12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083296" y="4736592"/>
            <a:ext cx="3063240" cy="749808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266175" y="4919472"/>
            <a:ext cx="269748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73B7FF"/>
                </a:solidFill>
                <a:latin typeface="Menlo"/>
              </a:rPr>
              <a:t>Score = 50 × [P(Y≥1) + P(Y≥2)]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83296" y="5715000"/>
            <a:ext cx="306324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9EB0C3"/>
                </a:solidFill>
                <a:latin typeface="Avenir Next"/>
              </a:rPr>
              <a:t>Source: challenge brief example; scores shown are illustrative.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20040"/>
            <a:ext cx="548640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FE3D2"/>
                </a:solidFill>
                <a:latin typeface="Avenir Next"/>
              </a:rPr>
              <a:t>PHONE-LEVEL ACCENTEDNESS • TAKE-HOME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04088"/>
            <a:ext cx="1069848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7FAFC"/>
                </a:solidFill>
                <a:latin typeface="Avenir Next"/>
              </a:rPr>
              <a:t>The task: localize pronunciation feedback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9184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EB0C3"/>
                </a:solidFill>
                <a:latin typeface="Avenir Next"/>
              </a:rPr>
              <a:t>02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21792" y="1417320"/>
            <a:ext cx="10945368" cy="0"/>
          </a:xfrm>
          <a:prstGeom prst="line">
            <a:avLst/>
          </a:prstGeom>
          <a:ln w="12700">
            <a:solidFill>
              <a:srgbClr val="284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58368" y="1828800"/>
            <a:ext cx="2816352" cy="2148840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9536" y="2011680"/>
            <a:ext cx="493776" cy="292608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2020824"/>
            <a:ext cx="40233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81321"/>
                </a:solidFill>
                <a:latin typeface="Avenir Next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532888"/>
            <a:ext cx="23317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7FAFC"/>
                </a:solidFill>
                <a:latin typeface="Avenir Next"/>
              </a:rPr>
              <a:t>Speech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063240"/>
            <a:ext cx="2359152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EB0C3"/>
                </a:solidFill>
                <a:latin typeface="Avenir Next"/>
              </a:rPr>
              <a:t>Record or upload
a learner utterance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78224" y="1828800"/>
            <a:ext cx="2816352" cy="2148840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79392" y="2011680"/>
            <a:ext cx="493776" cy="292608"/>
          </a:xfrm>
          <a:prstGeom prst="roundRect">
            <a:avLst/>
          </a:prstGeom>
          <a:solidFill>
            <a:srgbClr val="73B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5112" y="2020824"/>
            <a:ext cx="40233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81321"/>
                </a:solidFill>
                <a:latin typeface="Avenir Next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9392" y="2532888"/>
            <a:ext cx="23317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7FAFC"/>
                </a:solidFill>
                <a:latin typeface="Avenir Next"/>
              </a:rPr>
              <a:t>Expected phones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9392" y="3063240"/>
            <a:ext cx="2359152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EB0C3"/>
                </a:solidFill>
                <a:latin typeface="Avenir Next"/>
              </a:rPr>
              <a:t>The intended phone
sequence—no timestamps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1828800"/>
            <a:ext cx="2816352" cy="2148840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99248" y="2011680"/>
            <a:ext cx="493776" cy="292608"/>
          </a:xfrm>
          <a:prstGeom prst="roundRect">
            <a:avLst/>
          </a:prstGeom>
          <a:solidFill>
            <a:srgbClr val="FF92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44968" y="2020824"/>
            <a:ext cx="40233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81321"/>
                </a:solidFill>
                <a:latin typeface="Avenir Next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99248" y="2532888"/>
            <a:ext cx="23317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7FAFC"/>
                </a:solidFill>
                <a:latin typeface="Avenir Next"/>
              </a:rPr>
              <a:t>Phone scores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99248" y="3063240"/>
            <a:ext cx="2359152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EB0C3"/>
                </a:solidFill>
                <a:latin typeface="Avenir Next"/>
              </a:rPr>
              <a:t>One continuous 0–100
score per expected phone</a:t>
            </a:r>
          </a:p>
        </p:txBody>
      </p:sp>
      <p:sp>
        <p:nvSpPr>
          <p:cNvPr id="21" name="Chevron 20"/>
          <p:cNvSpPr/>
          <p:nvPr/>
        </p:nvSpPr>
        <p:spPr>
          <a:xfrm>
            <a:off x="3602736" y="2578608"/>
            <a:ext cx="310896" cy="640080"/>
          </a:xfrm>
          <a:prstGeom prst="chevron">
            <a:avLst/>
          </a:prstGeom>
          <a:solidFill>
            <a:srgbClr val="284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evron 21"/>
          <p:cNvSpPr/>
          <p:nvPr/>
        </p:nvSpPr>
        <p:spPr>
          <a:xfrm>
            <a:off x="7022592" y="2578608"/>
            <a:ext cx="310896" cy="640080"/>
          </a:xfrm>
          <a:prstGeom prst="chevron">
            <a:avLst/>
          </a:prstGeom>
          <a:solidFill>
            <a:srgbClr val="284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4416552"/>
            <a:ext cx="3017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7FAFC"/>
                </a:solidFill>
                <a:latin typeface="Avenir Next"/>
              </a:rPr>
              <a:t>What makes it difficult</a:t>
            </a:r>
          </a:p>
        </p:txBody>
      </p:sp>
      <p:sp>
        <p:nvSpPr>
          <p:cNvPr id="24" name="Oval 23"/>
          <p:cNvSpPr/>
          <p:nvPr/>
        </p:nvSpPr>
        <p:spPr>
          <a:xfrm>
            <a:off x="685800" y="5001768"/>
            <a:ext cx="91440" cy="91440"/>
          </a:xfrm>
          <a:prstGeom prst="ellipse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892040"/>
            <a:ext cx="3291839" cy="5303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7FAFC"/>
                </a:solidFill>
                <a:latin typeface="Avenir Next"/>
              </a:rPr>
              <a:t>Labels are ordered (0 &lt; 1 &lt; 2), but output must be continuous.</a:t>
            </a:r>
          </a:p>
        </p:txBody>
      </p:sp>
      <p:sp>
        <p:nvSpPr>
          <p:cNvPr id="26" name="Oval 25"/>
          <p:cNvSpPr/>
          <p:nvPr/>
        </p:nvSpPr>
        <p:spPr>
          <a:xfrm>
            <a:off x="4169663" y="5001768"/>
            <a:ext cx="91440" cy="91440"/>
          </a:xfrm>
          <a:prstGeom prst="ellipse">
            <a:avLst/>
          </a:prstGeom>
          <a:solidFill>
            <a:srgbClr val="73B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52544" y="4892040"/>
            <a:ext cx="3200400" cy="5303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7FAFC"/>
                </a:solidFill>
                <a:latin typeface="Avenir Next"/>
              </a:rPr>
              <a:t>Phone boundaries are absent and must be inferred from audio.</a:t>
            </a:r>
          </a:p>
        </p:txBody>
      </p:sp>
      <p:sp>
        <p:nvSpPr>
          <p:cNvPr id="28" name="Oval 27"/>
          <p:cNvSpPr/>
          <p:nvPr/>
        </p:nvSpPr>
        <p:spPr>
          <a:xfrm>
            <a:off x="7571231" y="5001768"/>
            <a:ext cx="91440" cy="91440"/>
          </a:xfrm>
          <a:prstGeom prst="ellipse">
            <a:avLst/>
          </a:prstGeom>
          <a:solidFill>
            <a:srgbClr val="FF92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54111" y="4892040"/>
            <a:ext cx="3127248" cy="5303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7FAFC"/>
                </a:solidFill>
                <a:latin typeface="Avenir Next"/>
              </a:rPr>
              <a:t>The majority label dominates, so raw accuracy is misleading.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696712"/>
            <a:ext cx="10881360" cy="502920"/>
          </a:xfrm>
          <a:prstGeom prst="roundRect">
            <a:avLst/>
          </a:prstGeom>
          <a:solidFill>
            <a:srgbClr val="173047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536" y="5833872"/>
            <a:ext cx="1124712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FE3D2"/>
                </a:solidFill>
                <a:latin typeface="Avenir Next"/>
              </a:rPr>
              <a:t>Product question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84831" y="5769864"/>
            <a:ext cx="9125712" cy="2651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7FAFC"/>
                </a:solidFill>
                <a:latin typeface="Avenir Next"/>
              </a:rPr>
              <a:t>Where did this realization sound less American-like—and what should the learner practice next?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21792" y="6483096"/>
            <a:ext cx="10945368" cy="0"/>
          </a:xfrm>
          <a:prstGeom prst="line">
            <a:avLst/>
          </a:prstGeom>
          <a:ln w="8890">
            <a:solidFill>
              <a:srgbClr val="284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21792" y="6537960"/>
            <a:ext cx="896112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9EB0C3"/>
                </a:solidFill>
                <a:latin typeface="Avenir Next"/>
              </a:rPr>
              <a:t>Sources: data/phone-scoring-ml-challenge.md; submission/WRITEUP.md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58200" y="6537960"/>
            <a:ext cx="310896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9EB0C3"/>
                </a:solidFill>
                <a:latin typeface="Avenir Next"/>
              </a:rPr>
              <a:t>github.com/aviadarn/Accentedness-Scoring-Challenge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20040"/>
            <a:ext cx="548640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FE3D2"/>
                </a:solidFill>
                <a:latin typeface="Avenir Next"/>
              </a:rPr>
              <a:t>PHONE-LEVEL ACCENTEDNESS • TAKE-HOME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04088"/>
            <a:ext cx="1069848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7FAFC"/>
                </a:solidFill>
                <a:latin typeface="Avenir Next"/>
              </a:rPr>
              <a:t>The data is small—and heavily imbalanced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9184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EB0C3"/>
                </a:solidFill>
                <a:latin typeface="Avenir Next"/>
              </a:rPr>
              <a:t>03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21792" y="1417320"/>
            <a:ext cx="10945368" cy="0"/>
          </a:xfrm>
          <a:prstGeom prst="line">
            <a:avLst/>
          </a:prstGeom>
          <a:ln w="12700">
            <a:solidFill>
              <a:srgbClr val="284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49808" y="1764792"/>
            <a:ext cx="384048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EB0C3"/>
                </a:solidFill>
                <a:latin typeface="Avenir Next"/>
              </a:rPr>
              <a:t>TRAIN LABEL DISTRIBUTION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41248" y="5056632"/>
            <a:ext cx="5166360" cy="0"/>
          </a:xfrm>
          <a:prstGeom prst="line">
            <a:avLst/>
          </a:prstGeom>
          <a:ln w="19050">
            <a:solidFill>
              <a:srgbClr val="284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316736" y="4638252"/>
            <a:ext cx="841248" cy="418379"/>
          </a:xfrm>
          <a:prstGeom prst="roundRect">
            <a:avLst/>
          </a:prstGeom>
          <a:solidFill>
            <a:srgbClr val="FF92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07007" y="4299924"/>
            <a:ext cx="1060704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9274"/>
                </a:solidFill>
                <a:latin typeface="Avenir Next"/>
              </a:rPr>
              <a:t>12.23%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5336" y="5184648"/>
            <a:ext cx="384048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7FAFC"/>
                </a:solidFill>
                <a:latin typeface="Avenir Next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5" y="5477256"/>
            <a:ext cx="138988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EB0C3"/>
                </a:solidFill>
                <a:latin typeface="Avenir Next"/>
              </a:rPr>
              <a:t>heavily accented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4" y="4787062"/>
            <a:ext cx="841248" cy="269569"/>
          </a:xfrm>
          <a:prstGeom prst="roundRect">
            <a:avLst/>
          </a:prstGeom>
          <a:solidFill>
            <a:srgbClr val="FFC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9776" y="4448734"/>
            <a:ext cx="1060704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C857"/>
                </a:solidFill>
                <a:latin typeface="Avenir Next"/>
              </a:rPr>
              <a:t>7.88%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18104" y="5184648"/>
            <a:ext cx="384048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7FAFC"/>
                </a:solidFill>
                <a:latin typeface="Avenir Next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15184" y="5477256"/>
            <a:ext cx="138988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EB0C3"/>
                </a:solidFill>
                <a:latin typeface="Avenir Next"/>
              </a:rPr>
              <a:t>understandable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62272" y="2323649"/>
            <a:ext cx="841248" cy="2732982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52544" y="1985321"/>
            <a:ext cx="1060704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FE3D2"/>
                </a:solidFill>
                <a:latin typeface="Avenir Next"/>
              </a:rPr>
              <a:t>79.89%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5184648"/>
            <a:ext cx="384048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7FAFC"/>
                </a:solidFill>
                <a:latin typeface="Avenir Next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87952" y="5477256"/>
            <a:ext cx="138988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EB0C3"/>
                </a:solidFill>
                <a:latin typeface="Avenir Next"/>
              </a:rPr>
              <a:t>native-like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19088" y="1792224"/>
            <a:ext cx="2240280" cy="1005840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79" y="1929384"/>
            <a:ext cx="1911096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FE3D2"/>
                </a:solidFill>
                <a:latin typeface="Avenir Next"/>
              </a:rPr>
              <a:t>2,799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79" y="2432304"/>
            <a:ext cx="1911096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EB0C3"/>
                </a:solidFill>
                <a:latin typeface="Avenir Next"/>
              </a:rPr>
              <a:t>TRAIN UTTERANCES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97112" y="1792224"/>
            <a:ext cx="2240280" cy="1005840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61704" y="1929384"/>
            <a:ext cx="1911096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73B7FF"/>
                </a:solidFill>
                <a:latin typeface="Avenir Next"/>
              </a:rPr>
              <a:t>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61704" y="2432304"/>
            <a:ext cx="1911096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EB0C3"/>
                </a:solidFill>
                <a:latin typeface="Avenir Next"/>
              </a:rPr>
              <a:t>VALIDATION UTTERANCES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19088" y="3054096"/>
            <a:ext cx="2240280" cy="1005840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79" y="3191256"/>
            <a:ext cx="1911096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C857"/>
                </a:solidFill>
                <a:latin typeface="Avenir Next"/>
              </a:rPr>
              <a:t>90,239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79" y="3694176"/>
            <a:ext cx="1911096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EB0C3"/>
                </a:solidFill>
                <a:latin typeface="Avenir Next"/>
              </a:rPr>
              <a:t>LABELED PHONES TOTAL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97112" y="3054096"/>
            <a:ext cx="2240280" cy="1005840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61704" y="3191256"/>
            <a:ext cx="1911096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9274"/>
                </a:solidFill>
                <a:latin typeface="Avenir Next"/>
              </a:rPr>
              <a:t>44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61704" y="3694176"/>
            <a:ext cx="1911096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EB0C3"/>
                </a:solidFill>
                <a:latin typeface="Avenir Next"/>
              </a:rPr>
              <a:t>PHONE TYPES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19088" y="4334256"/>
            <a:ext cx="4718304" cy="1024128"/>
          </a:xfrm>
          <a:prstGeom prst="roundRect">
            <a:avLst/>
          </a:prstGeom>
          <a:solidFill>
            <a:srgbClr val="173047"/>
          </a:solidFill>
          <a:ln w="16510">
            <a:solidFill>
              <a:srgbClr val="FF92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56832" y="4517136"/>
            <a:ext cx="13258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9274"/>
                </a:solidFill>
                <a:latin typeface="Avenir Next"/>
              </a:rPr>
              <a:t>79.47%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01000" y="4489704"/>
            <a:ext cx="2816352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FAFC"/>
                </a:solidFill>
                <a:latin typeface="Avenir Next"/>
              </a:rPr>
              <a:t>validation accuracy by always predicting “native-like”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4965192"/>
            <a:ext cx="2816352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EB0C3"/>
                </a:solidFill>
                <a:latin typeface="Avenir Next"/>
              </a:rPr>
              <a:t>Yet recall for labels 0 and 1 is zero.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9808" y="5797296"/>
            <a:ext cx="1700784" cy="292608"/>
          </a:xfrm>
          <a:prstGeom prst="roundRect">
            <a:avLst/>
          </a:prstGeom>
          <a:solidFill>
            <a:srgbClr val="173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5528" y="5806440"/>
            <a:ext cx="1609344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EB0C3"/>
                </a:solidFill>
                <a:latin typeface="Avenir Next"/>
              </a:rPr>
              <a:t>NO PHONE TIMESTAMPS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596896" y="5797296"/>
            <a:ext cx="1298448" cy="292608"/>
          </a:xfrm>
          <a:prstGeom prst="roundRect">
            <a:avLst/>
          </a:prstGeom>
          <a:solidFill>
            <a:srgbClr val="173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42615" y="5806440"/>
            <a:ext cx="1207007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EB0C3"/>
                </a:solidFill>
                <a:latin typeface="Avenir Next"/>
              </a:rPr>
              <a:t>NO SPEAKER IDs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41648" y="5797296"/>
            <a:ext cx="1664208" cy="292608"/>
          </a:xfrm>
          <a:prstGeom prst="roundRect">
            <a:avLst/>
          </a:prstGeom>
          <a:solidFill>
            <a:srgbClr val="173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87368" y="5806440"/>
            <a:ext cx="1572768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EB0C3"/>
                </a:solidFill>
                <a:latin typeface="Avenir Next"/>
              </a:rPr>
              <a:t>NO RATER AGREEMENT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98464" y="5833872"/>
            <a:ext cx="512064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FAFC"/>
                </a:solidFill>
                <a:latin typeface="Avenir Next"/>
              </a:rPr>
              <a:t>These gaps shape both modeling and evaluation.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21792" y="6483096"/>
            <a:ext cx="10945368" cy="0"/>
          </a:xfrm>
          <a:prstGeom prst="line">
            <a:avLst/>
          </a:prstGeom>
          <a:ln w="8890">
            <a:solidFill>
              <a:srgbClr val="284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21792" y="6537960"/>
            <a:ext cx="896112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9EB0C3"/>
                </a:solidFill>
                <a:latin typeface="Avenir Next"/>
              </a:rPr>
              <a:t>Sources: data/README.md; submission/WRITEUP.md; submission/model/metrics.json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58200" y="6537960"/>
            <a:ext cx="310896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9EB0C3"/>
                </a:solidFill>
                <a:latin typeface="Avenir Next"/>
              </a:rPr>
              <a:t>github.com/aviadarn/Accentedness-Scoring-Challenge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20040"/>
            <a:ext cx="548640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FE3D2"/>
                </a:solidFill>
                <a:latin typeface="Avenir Next"/>
              </a:rPr>
              <a:t>PHONE-LEVEL ACCENTEDNESS • TAKE-HOME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04088"/>
            <a:ext cx="1069848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7FAFC"/>
                </a:solidFill>
                <a:latin typeface="Avenir Next"/>
              </a:rPr>
              <a:t>Architecture: align first, then score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9184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EB0C3"/>
                </a:solidFill>
                <a:latin typeface="Avenir Next"/>
              </a:rPr>
              <a:t>04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21792" y="1417320"/>
            <a:ext cx="10945368" cy="0"/>
          </a:xfrm>
          <a:prstGeom prst="line">
            <a:avLst/>
          </a:prstGeom>
          <a:ln w="12700">
            <a:solidFill>
              <a:srgbClr val="284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03504" y="1874519"/>
            <a:ext cx="1682496" cy="2377440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2048256"/>
            <a:ext cx="438912" cy="292608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057400"/>
            <a:ext cx="347472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81321"/>
                </a:solidFill>
                <a:latin typeface="Avenir Next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660904"/>
            <a:ext cx="1371600" cy="42062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7FAFC"/>
                </a:solidFill>
                <a:latin typeface="Avenir Next"/>
              </a:rPr>
              <a:t>Audio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255264"/>
            <a:ext cx="1371600" cy="6035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EB0C3"/>
                </a:solidFill>
                <a:latin typeface="Avenir Next"/>
              </a:rPr>
              <a:t>16 kHz
waveform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286000" y="3054096"/>
            <a:ext cx="155448" cy="0"/>
          </a:xfrm>
          <a:prstGeom prst="line">
            <a:avLst/>
          </a:prstGeom>
          <a:ln w="25400">
            <a:solidFill>
              <a:srgbClr val="5FE3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441448" y="1874519"/>
            <a:ext cx="1682496" cy="2377440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596896" y="2048256"/>
            <a:ext cx="438912" cy="292608"/>
          </a:xfrm>
          <a:prstGeom prst="roundRect">
            <a:avLst/>
          </a:prstGeom>
          <a:solidFill>
            <a:srgbClr val="73B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42616" y="2057400"/>
            <a:ext cx="347472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81321"/>
                </a:solidFill>
                <a:latin typeface="Avenir Next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96896" y="2660904"/>
            <a:ext cx="1371600" cy="42062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7FAFC"/>
                </a:solidFill>
                <a:latin typeface="Avenir Next"/>
              </a:rPr>
              <a:t>Whisper-tiny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96896" y="3255264"/>
            <a:ext cx="1371600" cy="6035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EB0C3"/>
                </a:solidFill>
                <a:latin typeface="Avenir Next"/>
              </a:rPr>
              <a:t>Frozen 384-d
encoder states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123944" y="3054096"/>
            <a:ext cx="155448" cy="0"/>
          </a:xfrm>
          <a:prstGeom prst="line">
            <a:avLst/>
          </a:prstGeom>
          <a:ln w="25400">
            <a:solidFill>
              <a:srgbClr val="73B7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79392" y="1874519"/>
            <a:ext cx="1682496" cy="2377440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434840" y="2048256"/>
            <a:ext cx="438912" cy="292608"/>
          </a:xfrm>
          <a:prstGeom prst="roundRect">
            <a:avLst/>
          </a:prstGeom>
          <a:solidFill>
            <a:srgbClr val="FFC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0" y="2057400"/>
            <a:ext cx="347472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81321"/>
                </a:solidFill>
                <a:latin typeface="Avenir Next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2660904"/>
            <a:ext cx="1371600" cy="42062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7FAFC"/>
                </a:solidFill>
                <a:latin typeface="Avenir Next"/>
              </a:rPr>
              <a:t>CTC + Viterbi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3255264"/>
            <a:ext cx="1371600" cy="6035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EB0C3"/>
                </a:solidFill>
                <a:latin typeface="Avenir Next"/>
              </a:rPr>
              <a:t>45-way head;
constrained spans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961888" y="3054096"/>
            <a:ext cx="155448" cy="0"/>
          </a:xfrm>
          <a:prstGeom prst="line">
            <a:avLst/>
          </a:prstGeom>
          <a:ln w="25400">
            <a:solidFill>
              <a:srgbClr val="FFC8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117336" y="1874519"/>
            <a:ext cx="1682496" cy="2377440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272784" y="2048256"/>
            <a:ext cx="438912" cy="292608"/>
          </a:xfrm>
          <a:prstGeom prst="roundRect">
            <a:avLst/>
          </a:prstGeom>
          <a:solidFill>
            <a:srgbClr val="FF92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18504" y="2057400"/>
            <a:ext cx="347472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81321"/>
                </a:solidFill>
                <a:latin typeface="Avenir Next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72784" y="2660904"/>
            <a:ext cx="1371600" cy="42062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7FAFC"/>
                </a:solidFill>
                <a:latin typeface="Avenir Next"/>
              </a:rPr>
              <a:t>Phone features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72784" y="3255264"/>
            <a:ext cx="1371600" cy="6035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EB0C3"/>
                </a:solidFill>
                <a:latin typeface="Avenir Next"/>
              </a:rPr>
              <a:t>mean + std +
4 diagnostics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799832" y="3054096"/>
            <a:ext cx="155448" cy="0"/>
          </a:xfrm>
          <a:prstGeom prst="line">
            <a:avLst/>
          </a:prstGeom>
          <a:ln w="25400">
            <a:solidFill>
              <a:srgbClr val="FF92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7955280" y="1874519"/>
            <a:ext cx="1682496" cy="2377440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110728" y="2048256"/>
            <a:ext cx="438912" cy="292608"/>
          </a:xfrm>
          <a:prstGeom prst="roundRect">
            <a:avLst/>
          </a:prstGeom>
          <a:solidFill>
            <a:srgbClr val="73B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56448" y="2057400"/>
            <a:ext cx="347472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81321"/>
                </a:solidFill>
                <a:latin typeface="Avenir Next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0728" y="2660904"/>
            <a:ext cx="1371600" cy="42062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7FAFC"/>
                </a:solidFill>
                <a:latin typeface="Avenir Next"/>
              </a:rPr>
              <a:t>BiGRU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10728" y="3255264"/>
            <a:ext cx="1371600" cy="6035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EB0C3"/>
                </a:solidFill>
                <a:latin typeface="Avenir Next"/>
              </a:rPr>
              <a:t>phone embedding;
2 layers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637776" y="3054096"/>
            <a:ext cx="155448" cy="0"/>
          </a:xfrm>
          <a:prstGeom prst="line">
            <a:avLst/>
          </a:prstGeom>
          <a:ln w="25400">
            <a:solidFill>
              <a:srgbClr val="73B7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9793224" y="1874519"/>
            <a:ext cx="1682496" cy="2377440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948672" y="2048256"/>
            <a:ext cx="438912" cy="292608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94392" y="2057400"/>
            <a:ext cx="347472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81321"/>
                </a:solidFill>
                <a:latin typeface="Avenir Next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48672" y="2660904"/>
            <a:ext cx="1371600" cy="42062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7FAFC"/>
                </a:solidFill>
                <a:latin typeface="Avenir Next"/>
              </a:rPr>
              <a:t>Ordinal head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48672" y="3255264"/>
            <a:ext cx="1371600" cy="6035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EB0C3"/>
                </a:solidFill>
                <a:latin typeface="Avenir Next"/>
              </a:rPr>
              <a:t>q₁, q₂ →
score 0–100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8368" y="4645152"/>
            <a:ext cx="10881360" cy="1143000"/>
          </a:xfrm>
          <a:prstGeom prst="roundRect">
            <a:avLst/>
          </a:prstGeom>
          <a:solidFill>
            <a:srgbClr val="0D1C2D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" y="4828032"/>
            <a:ext cx="54864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5FE3D2"/>
                </a:solidFill>
                <a:latin typeface="Avenir Next"/>
              </a:rPr>
              <a:t>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72768" y="4892040"/>
            <a:ext cx="144475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7FAFC"/>
                </a:solidFill>
                <a:latin typeface="Avenir Next"/>
              </a:rPr>
              <a:t>CTC epochs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3191256" y="4892040"/>
            <a:ext cx="0" cy="630936"/>
          </a:xfrm>
          <a:prstGeom prst="line">
            <a:avLst/>
          </a:prstGeom>
          <a:ln w="12700">
            <a:solidFill>
              <a:srgbClr val="284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3547872" y="4828032"/>
            <a:ext cx="54864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73B7FF"/>
                </a:solidFill>
                <a:latin typeface="Avenir Next"/>
              </a:rPr>
              <a:t>18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06240" y="4892040"/>
            <a:ext cx="144475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7FAFC"/>
                </a:solidFill>
                <a:latin typeface="Avenir Next"/>
              </a:rPr>
              <a:t>scorer epochs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824728" y="4892040"/>
            <a:ext cx="0" cy="630936"/>
          </a:xfrm>
          <a:prstGeom prst="line">
            <a:avLst/>
          </a:prstGeom>
          <a:ln w="12700">
            <a:solidFill>
              <a:srgbClr val="284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181344" y="4828032"/>
            <a:ext cx="54864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A8E063"/>
                </a:solidFill>
                <a:latin typeface="Avenir Next"/>
              </a:rP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39712" y="4892040"/>
            <a:ext cx="144475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7FAFC"/>
                </a:solidFill>
                <a:latin typeface="Avenir Next"/>
              </a:rPr>
              <a:t>alignment fallbacks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8458200" y="4892040"/>
            <a:ext cx="0" cy="630936"/>
          </a:xfrm>
          <a:prstGeom prst="line">
            <a:avLst/>
          </a:prstGeom>
          <a:ln w="12700">
            <a:solidFill>
              <a:srgbClr val="284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8814816" y="4828032"/>
            <a:ext cx="54864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C857"/>
                </a:solidFill>
                <a:latin typeface="Avenir Next"/>
              </a:rPr>
              <a:t>42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73184" y="4892040"/>
            <a:ext cx="144475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7FAFC"/>
                </a:solidFill>
                <a:latin typeface="Avenir Next"/>
              </a:rPr>
              <a:t>random seed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96112" y="5961888"/>
            <a:ext cx="103327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EB0C3"/>
                </a:solidFill>
                <a:latin typeface="Avenir Next"/>
              </a:rPr>
              <a:t>Training discipline: select the objective with prompt-purged grouped OOF, then run one fixed fit on all 2,799 training utterances.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21792" y="6483096"/>
            <a:ext cx="10945368" cy="0"/>
          </a:xfrm>
          <a:prstGeom prst="line">
            <a:avLst/>
          </a:prstGeom>
          <a:ln w="8890">
            <a:solidFill>
              <a:srgbClr val="284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621792" y="6537960"/>
            <a:ext cx="896112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9EB0C3"/>
                </a:solidFill>
                <a:latin typeface="Avenir Next"/>
              </a:rPr>
              <a:t>Sources: submission/WRITEUP.md; experiments/E16-alpha054-confirmation/README.md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58200" y="6537960"/>
            <a:ext cx="310896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9EB0C3"/>
                </a:solidFill>
                <a:latin typeface="Avenir Next"/>
              </a:rPr>
              <a:t>github.com/aviadarn/Accentedness-Scoring-Challenge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20040"/>
            <a:ext cx="548640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FE3D2"/>
                </a:solidFill>
                <a:latin typeface="Avenir Next"/>
              </a:rPr>
              <a:t>PHONE-LEVEL ACCENTEDNESS • TAKE-HOME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04088"/>
            <a:ext cx="1069848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7FAFC"/>
                </a:solidFill>
                <a:latin typeface="Avenir Next"/>
              </a:rPr>
              <a:t>The objective and metrics match the ordering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9184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EB0C3"/>
                </a:solidFill>
                <a:latin typeface="Avenir Next"/>
              </a:rPr>
              <a:t>05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21792" y="1417320"/>
            <a:ext cx="10945368" cy="0"/>
          </a:xfrm>
          <a:prstGeom prst="line">
            <a:avLst/>
          </a:prstGeom>
          <a:ln w="12700">
            <a:solidFill>
              <a:srgbClr val="284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58368" y="1764792"/>
            <a:ext cx="5257800" cy="4343400"/>
          </a:xfrm>
          <a:prstGeom prst="roundRect">
            <a:avLst/>
          </a:prstGeom>
          <a:solidFill>
            <a:srgbClr val="0D1C2D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2002536"/>
            <a:ext cx="201168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FE3D2"/>
                </a:solidFill>
                <a:latin typeface="Avenir Next"/>
              </a:rPr>
              <a:t>ORDINAL REGRESSION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2359152"/>
            <a:ext cx="329184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7FAFC"/>
                </a:solidFill>
                <a:latin typeface="Avenir Next"/>
              </a:rPr>
              <a:t>Two ordered questions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008376"/>
            <a:ext cx="20116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73B7FF"/>
                </a:solidFill>
                <a:latin typeface="Menlo"/>
              </a:rPr>
              <a:t>q₁ = P(Y ≥ 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01568" y="3008376"/>
            <a:ext cx="20116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5FE3D2"/>
                </a:solidFill>
                <a:latin typeface="Menlo"/>
              </a:rPr>
              <a:t>q₂ = P(Y ≥ 2)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225296" y="3858768"/>
            <a:ext cx="4096512" cy="0"/>
          </a:xfrm>
          <a:prstGeom prst="line">
            <a:avLst/>
          </a:prstGeom>
          <a:ln w="38100">
            <a:solidFill>
              <a:srgbClr val="284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115568" y="3749039"/>
            <a:ext cx="219456" cy="219456"/>
          </a:xfrm>
          <a:prstGeom prst="ellipse">
            <a:avLst/>
          </a:prstGeom>
          <a:solidFill>
            <a:srgbClr val="FF92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4096512"/>
            <a:ext cx="42062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9274"/>
                </a:solidFill>
                <a:latin typeface="Avenir Next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425696"/>
            <a:ext cx="1133856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EB0C3"/>
                </a:solidFill>
                <a:latin typeface="Avenir Next"/>
              </a:rPr>
              <a:t>heavy</a:t>
            </a:r>
          </a:p>
        </p:txBody>
      </p:sp>
      <p:sp>
        <p:nvSpPr>
          <p:cNvPr id="15" name="Oval 14"/>
          <p:cNvSpPr/>
          <p:nvPr/>
        </p:nvSpPr>
        <p:spPr>
          <a:xfrm>
            <a:off x="3163824" y="3749039"/>
            <a:ext cx="219456" cy="219456"/>
          </a:xfrm>
          <a:prstGeom prst="ellipse">
            <a:avLst/>
          </a:prstGeom>
          <a:solidFill>
            <a:srgbClr val="FFC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63240" y="4096512"/>
            <a:ext cx="42062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C857"/>
                </a:solidFill>
                <a:latin typeface="Avenir Next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06624" y="4425696"/>
            <a:ext cx="1133856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EB0C3"/>
                </a:solidFill>
                <a:latin typeface="Avenir Next"/>
              </a:rPr>
              <a:t>understandable</a:t>
            </a:r>
          </a:p>
        </p:txBody>
      </p:sp>
      <p:sp>
        <p:nvSpPr>
          <p:cNvPr id="18" name="Oval 17"/>
          <p:cNvSpPr/>
          <p:nvPr/>
        </p:nvSpPr>
        <p:spPr>
          <a:xfrm>
            <a:off x="5212080" y="3749039"/>
            <a:ext cx="219456" cy="219456"/>
          </a:xfrm>
          <a:prstGeom prst="ellipse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11496" y="4096512"/>
            <a:ext cx="42062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FE3D2"/>
                </a:solidFill>
                <a:latin typeface="Avenir Next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4425696"/>
            <a:ext cx="1133856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EB0C3"/>
                </a:solidFill>
                <a:latin typeface="Avenir Next"/>
              </a:rPr>
              <a:t>native-like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0976" y="4974336"/>
            <a:ext cx="4663440" cy="713232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5FE3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88720" y="5184648"/>
            <a:ext cx="418795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7FAFC"/>
                </a:solidFill>
                <a:latin typeface="Menlo"/>
              </a:rPr>
              <a:t>score = 50 × (q₁ + q₂)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7648" y="2002536"/>
            <a:ext cx="16459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3B7FF"/>
                </a:solidFill>
                <a:latin typeface="Avenir Next"/>
              </a:rPr>
              <a:t>EVALUATION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7648" y="2359152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7FAFC"/>
                </a:solidFill>
                <a:latin typeface="Avenir Next"/>
              </a:rPr>
              <a:t>Balanced MAE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56648" y="2414016"/>
            <a:ext cx="1078992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FE3D2"/>
                </a:solidFill>
                <a:latin typeface="Avenir Next"/>
              </a:rPr>
              <a:t>Primary metric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27648" y="2843784"/>
            <a:ext cx="4690872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EB0C3"/>
                </a:solidFill>
                <a:latin typeface="Avenir Next"/>
              </a:rPr>
              <a:t>Compute MAE within each true label, then average the three class errors equally.</a:t>
            </a:r>
          </a:p>
        </p:txBody>
      </p:sp>
      <p:sp>
        <p:nvSpPr>
          <p:cNvPr id="27" name="Oval 26"/>
          <p:cNvSpPr/>
          <p:nvPr/>
        </p:nvSpPr>
        <p:spPr>
          <a:xfrm>
            <a:off x="6327648" y="3685032"/>
            <a:ext cx="91440" cy="91440"/>
          </a:xfrm>
          <a:prstGeom prst="ellipse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0528" y="3575304"/>
            <a:ext cx="429768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7FAFC"/>
                </a:solidFill>
                <a:latin typeface="Avenir Next"/>
              </a:rPr>
              <a:t>Preserves continuous error magnitude</a:t>
            </a:r>
          </a:p>
        </p:txBody>
      </p:sp>
      <p:sp>
        <p:nvSpPr>
          <p:cNvPr id="29" name="Oval 28"/>
          <p:cNvSpPr/>
          <p:nvPr/>
        </p:nvSpPr>
        <p:spPr>
          <a:xfrm>
            <a:off x="6327648" y="4169664"/>
            <a:ext cx="91440" cy="91440"/>
          </a:xfrm>
          <a:prstGeom prst="ellipse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10528" y="4059936"/>
            <a:ext cx="429768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7FAFC"/>
                </a:solidFill>
                <a:latin typeface="Avenir Next"/>
              </a:rPr>
              <a:t>Stops the 80% majority class dominating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7648" y="4636008"/>
            <a:ext cx="21031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AFC"/>
                </a:solidFill>
                <a:latin typeface="Avenir Next"/>
              </a:rPr>
              <a:t>Secondary checks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27648" y="5020056"/>
            <a:ext cx="694944" cy="292608"/>
          </a:xfrm>
          <a:prstGeom prst="roundRect">
            <a:avLst/>
          </a:prstGeom>
          <a:solidFill>
            <a:srgbClr val="173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73368" y="5029200"/>
            <a:ext cx="603504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3B7FF"/>
                </a:solidFill>
                <a:latin typeface="Avenir Next"/>
              </a:rPr>
              <a:t>QWK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50608" y="5020056"/>
            <a:ext cx="1078992" cy="292608"/>
          </a:xfrm>
          <a:prstGeom prst="roundRect">
            <a:avLst/>
          </a:prstGeom>
          <a:solidFill>
            <a:srgbClr val="173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96328" y="5029200"/>
            <a:ext cx="987551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C857"/>
                </a:solidFill>
                <a:latin typeface="Avenir Next"/>
              </a:rPr>
              <a:t>MACRO-F1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357616" y="5020056"/>
            <a:ext cx="1408176" cy="292608"/>
          </a:xfrm>
          <a:prstGeom prst="roundRect">
            <a:avLst/>
          </a:prstGeom>
          <a:solidFill>
            <a:srgbClr val="173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03336" y="5029200"/>
            <a:ext cx="131673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9274"/>
                </a:solidFill>
                <a:latin typeface="Avenir Next"/>
              </a:rPr>
              <a:t>BALANCED ACC.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893808" y="5020056"/>
            <a:ext cx="1060704" cy="292608"/>
          </a:xfrm>
          <a:prstGeom prst="roundRect">
            <a:avLst/>
          </a:prstGeom>
          <a:solidFill>
            <a:srgbClr val="173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939528" y="5029200"/>
            <a:ext cx="969263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5FE3D2"/>
                </a:solidFill>
                <a:latin typeface="Avenir Next"/>
              </a:rPr>
              <a:t>SPEARMAN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27648" y="5559552"/>
            <a:ext cx="4626864" cy="502920"/>
          </a:xfrm>
          <a:prstGeom prst="roundRect">
            <a:avLst/>
          </a:prstGeom>
          <a:solidFill>
            <a:srgbClr val="173047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19672" y="5705856"/>
            <a:ext cx="425196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7FAFC"/>
                </a:solidFill>
                <a:latin typeface="Avenir Next"/>
              </a:rPr>
              <a:t>Loss weighting: n_c⁻⁰·⁵⁴ per token • mean-one normalized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21792" y="6483096"/>
            <a:ext cx="10945368" cy="0"/>
          </a:xfrm>
          <a:prstGeom prst="line">
            <a:avLst/>
          </a:prstGeom>
          <a:ln w="8890">
            <a:solidFill>
              <a:srgbClr val="284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621792" y="6537960"/>
            <a:ext cx="896112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9EB0C3"/>
                </a:solidFill>
                <a:latin typeface="Avenir Next"/>
              </a:rPr>
              <a:t>Sources: submission/WRITEUP.md; submission/accent_score/metrics.py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58200" y="6537960"/>
            <a:ext cx="310896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9EB0C3"/>
                </a:solidFill>
                <a:latin typeface="Avenir Next"/>
              </a:rPr>
              <a:t>github.com/aviadarn/Accentedness-Scoring-Challenge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20040"/>
            <a:ext cx="548640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FE3D2"/>
                </a:solidFill>
                <a:latin typeface="Avenir Next"/>
              </a:rPr>
              <a:t>PHONE-LEVEL ACCENTEDNESS • TAKE-HOME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04088"/>
            <a:ext cx="1069848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7FAFC"/>
                </a:solidFill>
                <a:latin typeface="Avenir Next"/>
              </a:rPr>
              <a:t>Validation: E16 improves balanced error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9184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EB0C3"/>
                </a:solidFill>
                <a:latin typeface="Avenir Next"/>
              </a:rPr>
              <a:t>06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21792" y="1417320"/>
            <a:ext cx="10945368" cy="0"/>
          </a:xfrm>
          <a:prstGeom prst="line">
            <a:avLst/>
          </a:prstGeom>
          <a:ln w="12700">
            <a:solidFill>
              <a:srgbClr val="284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49808" y="1728216"/>
            <a:ext cx="38862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EB0C3"/>
                </a:solidFill>
                <a:latin typeface="Avenir Next"/>
              </a:rPr>
              <a:t>BALANCED MAE • LOWER IS BETTER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40864"/>
            <a:ext cx="1133856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7FAFC"/>
                </a:solidFill>
                <a:latin typeface="Avenir Next"/>
              </a:rPr>
              <a:t>Strongest static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93392" y="2240280"/>
            <a:ext cx="3749039" cy="420624"/>
          </a:xfrm>
          <a:prstGeom prst="round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993392" y="2240280"/>
            <a:ext cx="2430127" cy="420624"/>
          </a:xfrm>
          <a:prstGeom prst="roundRect">
            <a:avLst/>
          </a:prstGeom>
          <a:solidFill>
            <a:srgbClr val="FF92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97879" y="2304288"/>
            <a:ext cx="64008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9274"/>
                </a:solidFill>
                <a:latin typeface="Avenir Next"/>
              </a:rPr>
              <a:t>32.41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54096"/>
            <a:ext cx="1133856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7FAFC"/>
                </a:solidFill>
                <a:latin typeface="Avenir Next"/>
              </a:rPr>
              <a:t>Sequence only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93392" y="2953512"/>
            <a:ext cx="3749039" cy="420624"/>
          </a:xfrm>
          <a:prstGeom prst="round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993392" y="2953512"/>
            <a:ext cx="2401635" cy="420624"/>
          </a:xfrm>
          <a:prstGeom prst="roundRect">
            <a:avLst/>
          </a:prstGeom>
          <a:solidFill>
            <a:srgbClr val="FFC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7879" y="3017520"/>
            <a:ext cx="64008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C857"/>
                </a:solidFill>
                <a:latin typeface="Avenir Next"/>
              </a:rPr>
              <a:t>32.03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67328"/>
            <a:ext cx="1133856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7FAFC"/>
                </a:solidFill>
                <a:latin typeface="Avenir Next"/>
              </a:rPr>
              <a:t>E01 incumbent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93392" y="3666744"/>
            <a:ext cx="3749039" cy="420624"/>
          </a:xfrm>
          <a:prstGeom prst="round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993392" y="3666744"/>
            <a:ext cx="1692316" cy="420624"/>
          </a:xfrm>
          <a:prstGeom prst="roundRect">
            <a:avLst/>
          </a:prstGeom>
          <a:solidFill>
            <a:srgbClr val="73B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97879" y="3730752"/>
            <a:ext cx="64008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3B7FF"/>
                </a:solidFill>
                <a:latin typeface="Avenir Next"/>
              </a:rPr>
              <a:t>22.57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480560"/>
            <a:ext cx="1133856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7FAFC"/>
                </a:solidFill>
                <a:latin typeface="Avenir Next"/>
              </a:rPr>
              <a:t>E16 selected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93392" y="4379976"/>
            <a:ext cx="3749039" cy="420624"/>
          </a:xfrm>
          <a:prstGeom prst="round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993392" y="4379976"/>
            <a:ext cx="1638330" cy="420624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97879" y="4443984"/>
            <a:ext cx="64008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FE3D2"/>
                </a:solidFill>
                <a:latin typeface="Avenir Next"/>
              </a:rPr>
              <a:t>21.85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330952"/>
            <a:ext cx="5303520" cy="603504"/>
          </a:xfrm>
          <a:prstGeom prst="roundRect">
            <a:avLst/>
          </a:prstGeom>
          <a:solidFill>
            <a:srgbClr val="173047"/>
          </a:solidFill>
          <a:ln w="12700">
            <a:solidFill>
              <a:srgbClr val="5FE3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" y="5468112"/>
            <a:ext cx="950976" cy="2834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5FE3D2"/>
                </a:solidFill>
                <a:latin typeface="Avenir Next"/>
              </a:rPr>
              <a:t>−0.725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75104" y="5486400"/>
            <a:ext cx="2505456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7FAFC"/>
                </a:solidFill>
                <a:latin typeface="Avenir Next"/>
              </a:rPr>
              <a:t>balanced-MAE points vs previous E01 checkpoint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33087" y="5504688"/>
            <a:ext cx="1664208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EB0C3"/>
                </a:solidFill>
                <a:latin typeface="Avenir Next"/>
              </a:rPr>
              <a:t>95% CI [−1.355, −0.081]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46520" y="1810512"/>
            <a:ext cx="2157984" cy="1005840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1112" y="1947672"/>
            <a:ext cx="182880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73B7FF"/>
                </a:solidFill>
                <a:latin typeface="Avenir Next"/>
              </a:rPr>
              <a:t>18.01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11112" y="2450591"/>
            <a:ext cx="18288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EB0C3"/>
                </a:solidFill>
                <a:latin typeface="Avenir Next"/>
              </a:rPr>
              <a:t>OVERALL MAE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51392" y="1810512"/>
            <a:ext cx="2157984" cy="1005840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15984" y="1947672"/>
            <a:ext cx="182880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FE3D2"/>
                </a:solidFill>
                <a:latin typeface="Avenir Next"/>
              </a:rPr>
              <a:t>0.579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5984" y="2450591"/>
            <a:ext cx="18288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EB0C3"/>
                </a:solidFill>
                <a:latin typeface="Avenir Next"/>
              </a:rPr>
              <a:t>QUADRATIC-WEIGHTED KAPPA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46520" y="3072384"/>
            <a:ext cx="2157984" cy="1005840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11112" y="3209544"/>
            <a:ext cx="182880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C857"/>
                </a:solidFill>
                <a:latin typeface="Avenir Next"/>
              </a:rPr>
              <a:t>0.568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11112" y="3712463"/>
            <a:ext cx="18288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EB0C3"/>
                </a:solidFill>
                <a:latin typeface="Avenir Next"/>
              </a:rPr>
              <a:t>MACRO-F1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851392" y="3072384"/>
            <a:ext cx="2157984" cy="1005840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15984" y="3209544"/>
            <a:ext cx="182880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9274"/>
                </a:solidFill>
                <a:latin typeface="Avenir Next"/>
              </a:rPr>
              <a:t>0.558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15984" y="3712463"/>
            <a:ext cx="18288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EB0C3"/>
                </a:solidFill>
                <a:latin typeface="Avenir Next"/>
              </a:rPr>
              <a:t>SPEARMAN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46520" y="4370832"/>
            <a:ext cx="4562856" cy="1143000"/>
          </a:xfrm>
          <a:prstGeom prst="roundRect">
            <a:avLst/>
          </a:prstGeom>
          <a:solidFill>
            <a:srgbClr val="0D1C2D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75120" y="4590288"/>
            <a:ext cx="2286000" cy="2834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7FAFC"/>
                </a:solidFill>
                <a:latin typeface="Avenir Next"/>
              </a:rPr>
              <a:t>2,996 validation phones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0" y="5029200"/>
            <a:ext cx="4041648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EB0C3"/>
                </a:solidFill>
                <a:latin typeface="Avenir Next"/>
              </a:rPr>
              <a:t>10,000-draw utterance-bootstrap CI: 20.73–23.05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46520" y="5687568"/>
            <a:ext cx="4562856" cy="438912"/>
          </a:xfrm>
          <a:prstGeom prst="roundRect">
            <a:avLst/>
          </a:prstGeom>
          <a:solidFill>
            <a:srgbClr val="173047"/>
          </a:solidFill>
          <a:ln w="12700">
            <a:solidFill>
              <a:srgbClr val="FF92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29400" y="5797296"/>
            <a:ext cx="4206240" cy="19202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9274"/>
                </a:solidFill>
                <a:latin typeface="Avenir Next"/>
              </a:rPr>
              <a:t>Important: this split is overlap-heavy—not new-speaker evidence.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21792" y="6483096"/>
            <a:ext cx="10945368" cy="0"/>
          </a:xfrm>
          <a:prstGeom prst="line">
            <a:avLst/>
          </a:prstGeom>
          <a:ln w="8890">
            <a:solidFill>
              <a:srgbClr val="284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21792" y="6537960"/>
            <a:ext cx="896112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9EB0C3"/>
                </a:solidFill>
                <a:latin typeface="Avenir Next"/>
              </a:rPr>
              <a:t>Sources: submission/model/metrics.json; submission/WRITEUP.md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6537960"/>
            <a:ext cx="310896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9EB0C3"/>
                </a:solidFill>
                <a:latin typeface="Avenir Next"/>
              </a:rPr>
              <a:t>github.com/aviadarn/Accentedness-Scoring-Challenge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20040"/>
            <a:ext cx="548640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FE3D2"/>
                </a:solidFill>
                <a:latin typeface="Avenir Next"/>
              </a:rPr>
              <a:t>PHONE-LEVEL ACCENTEDNESS • TAKE-HOME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04088"/>
            <a:ext cx="1069848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7FAFC"/>
                </a:solidFill>
                <a:latin typeface="Avenir Next"/>
              </a:rPr>
              <a:t>What I tried—and what I selected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9184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EB0C3"/>
                </a:solidFill>
                <a:latin typeface="Avenir Next"/>
              </a:rPr>
              <a:t>07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21792" y="1417320"/>
            <a:ext cx="10945368" cy="0"/>
          </a:xfrm>
          <a:prstGeom prst="line">
            <a:avLst/>
          </a:prstGeom>
          <a:ln w="12700">
            <a:solidFill>
              <a:srgbClr val="284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58368" y="1764792"/>
            <a:ext cx="3410712" cy="3063240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41247" y="1965960"/>
            <a:ext cx="896112" cy="292608"/>
          </a:xfrm>
          <a:prstGeom prst="roundRect">
            <a:avLst/>
          </a:prstGeom>
          <a:solidFill>
            <a:srgbClr val="73B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975103"/>
            <a:ext cx="804672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81321"/>
                </a:solidFill>
                <a:latin typeface="Avenir Next"/>
              </a:rPr>
              <a:t>REJECTED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496312"/>
            <a:ext cx="3044952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7FAFC"/>
                </a:solidFill>
                <a:latin typeface="Avenir Next"/>
              </a:rPr>
              <a:t>Bigger encoder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3172968"/>
            <a:ext cx="3044952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73B7FF"/>
                </a:solidFill>
                <a:latin typeface="Avenir Next"/>
              </a:rPr>
              <a:t>25.60 vs E01 22.57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3758184"/>
            <a:ext cx="3044952" cy="7498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EB0C3"/>
                </a:solidFill>
                <a:latin typeface="Avenir Next"/>
              </a:rPr>
              <a:t>Whisper-small worsened balanced MAE; no small-specific hyperparameter retuning was run.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764792"/>
            <a:ext cx="3410712" cy="3063240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1965960"/>
            <a:ext cx="896112" cy="292608"/>
          </a:xfrm>
          <a:prstGeom prst="roundRect">
            <a:avLst/>
          </a:prstGeom>
          <a:solidFill>
            <a:srgbClr val="FFC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1975103"/>
            <a:ext cx="804672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81321"/>
                </a:solidFill>
                <a:latin typeface="Avenir Next"/>
              </a:rPr>
              <a:t>REJECTED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496312"/>
            <a:ext cx="3044952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7FAFC"/>
                </a:solidFill>
                <a:latin typeface="Avenir Next"/>
              </a:rPr>
              <a:t>Auxiliary labels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172968"/>
            <a:ext cx="3044952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C857"/>
                </a:solidFill>
                <a:latin typeface="Avenir Next"/>
              </a:rPr>
              <a:t>+0.039 BM delta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758184"/>
            <a:ext cx="3044952" cy="7498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EB0C3"/>
                </a:solidFill>
                <a:latin typeface="Avenir Next"/>
              </a:rPr>
              <a:t>Severity and cluster targets produced no reliable gain; class-0 MAE worsened.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9872" y="1764792"/>
            <a:ext cx="3410712" cy="3063240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302752" y="1965960"/>
            <a:ext cx="896112" cy="292608"/>
          </a:xfrm>
          <a:prstGeom prst="roundRect">
            <a:avLst/>
          </a:prstGeom>
          <a:solidFill>
            <a:srgbClr val="FF92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48472" y="1975103"/>
            <a:ext cx="804672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81321"/>
                </a:solidFill>
                <a:latin typeface="Avenir Next"/>
              </a:rPr>
              <a:t>REJECTED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2752" y="2496312"/>
            <a:ext cx="3044952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7FAFC"/>
                </a:solidFill>
                <a:latin typeface="Avenir Next"/>
              </a:rPr>
              <a:t>Full inverse weights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2752" y="3172968"/>
            <a:ext cx="3044952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9274"/>
                </a:solidFill>
                <a:latin typeface="Avenir Next"/>
              </a:rPr>
              <a:t>BM −2.02 • MAE +3.86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2752" y="3758184"/>
            <a:ext cx="3044952" cy="7498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EB0C3"/>
                </a:solidFill>
                <a:latin typeface="Avenir Next"/>
              </a:rPr>
              <a:t>Rare-class recall improved, but QWK, macro-F1, majority recall, and calibration regressed.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5157216"/>
            <a:ext cx="10872216" cy="841248"/>
          </a:xfrm>
          <a:prstGeom prst="roundRect">
            <a:avLst/>
          </a:prstGeom>
          <a:solidFill>
            <a:srgbClr val="173047"/>
          </a:solidFill>
          <a:ln w="16510">
            <a:solidFill>
              <a:srgbClr val="5FE3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96112" y="5422392"/>
            <a:ext cx="859536" cy="292608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" y="5431536"/>
            <a:ext cx="76809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81321"/>
                </a:solidFill>
                <a:latin typeface="Avenir Next"/>
              </a:rPr>
              <a:t>SELECTED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11680" y="5330952"/>
            <a:ext cx="7827264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7FAFC"/>
                </a:solidFill>
                <a:latin typeface="Avenir Next"/>
              </a:rPr>
              <a:t>E16: Frozen Whisper-tiny + constrained CTC + alpha=0.54 ordinal head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11680" y="5687568"/>
            <a:ext cx="7827264" cy="19202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EB0C3"/>
                </a:solidFill>
                <a:latin typeface="Avenir Next"/>
              </a:rPr>
              <a:t>Prompt-purged OOF and the one-shot final comparison passed every gate.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172200"/>
            <a:ext cx="10872216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9EB0C3"/>
                </a:solidFill>
                <a:latin typeface="Avenir Next"/>
              </a:rPr>
              <a:t>Each result comes from its documented protocol; this is not a single shared leaderboard.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21792" y="6483096"/>
            <a:ext cx="10945368" cy="0"/>
          </a:xfrm>
          <a:prstGeom prst="line">
            <a:avLst/>
          </a:prstGeom>
          <a:ln w="8890">
            <a:solidFill>
              <a:srgbClr val="284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21792" y="6537960"/>
            <a:ext cx="896112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9EB0C3"/>
                </a:solidFill>
                <a:latin typeface="Avenir Next"/>
              </a:rPr>
              <a:t>Sources: experiments/E02; E05; E06; E16-alpha054-confirmation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58200" y="6537960"/>
            <a:ext cx="310896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9EB0C3"/>
                </a:solidFill>
                <a:latin typeface="Avenir Next"/>
              </a:rPr>
              <a:t>github.com/aviadarn/Accentedness-Scoring-Challenge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20040"/>
            <a:ext cx="548640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FE3D2"/>
                </a:solidFill>
                <a:latin typeface="Avenir Next"/>
              </a:rPr>
              <a:t>PHONE-LEVEL ACCENTEDNESS • TAKE-HOME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04088"/>
            <a:ext cx="1069848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7FAFC"/>
                </a:solidFill>
                <a:latin typeface="Avenir Next"/>
              </a:rPr>
              <a:t>The largest risk is the validation split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9184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EB0C3"/>
                </a:solidFill>
                <a:latin typeface="Avenir Next"/>
              </a:rPr>
              <a:t>08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21792" y="1417320"/>
            <a:ext cx="10945368" cy="0"/>
          </a:xfrm>
          <a:prstGeom prst="line">
            <a:avLst/>
          </a:prstGeom>
          <a:ln w="12700">
            <a:solidFill>
              <a:srgbClr val="284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58952" y="1755648"/>
            <a:ext cx="2331720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EB0C3"/>
                </a:solidFill>
                <a:latin typeface="Avenir Next"/>
              </a:rPr>
              <a:t>PSEUDO-SPEAKER OVERLAP</a:t>
            </a:r>
          </a:p>
        </p:txBody>
      </p:sp>
      <p:sp>
        <p:nvSpPr>
          <p:cNvPr id="7" name="Oval 6"/>
          <p:cNvSpPr/>
          <p:nvPr/>
        </p:nvSpPr>
        <p:spPr>
          <a:xfrm>
            <a:off x="896112" y="2194560"/>
            <a:ext cx="2999232" cy="2999232"/>
          </a:xfrm>
          <a:prstGeom prst="ellipse">
            <a:avLst/>
          </a:prstGeom>
          <a:noFill/>
          <a:ln w="30480">
            <a:solidFill>
              <a:srgbClr val="73B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43200" y="2194560"/>
            <a:ext cx="2999232" cy="2999232"/>
          </a:xfrm>
          <a:prstGeom prst="ellipse">
            <a:avLst/>
          </a:prstGeom>
          <a:noFill/>
          <a:ln w="30480">
            <a:solidFill>
              <a:srgbClr val="5FE3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07592" y="2505456"/>
            <a:ext cx="1115568" cy="2834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3B7FF"/>
                </a:solidFill>
                <a:latin typeface="Avenir Next"/>
              </a:rPr>
              <a:t>train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24528" y="2505456"/>
            <a:ext cx="1115568" cy="2834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FE3D2"/>
                </a:solidFill>
                <a:latin typeface="Avenir Next"/>
              </a:rPr>
              <a:t>validation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48840" y="3172968"/>
            <a:ext cx="2286000" cy="1170432"/>
          </a:xfrm>
          <a:prstGeom prst="roundRect">
            <a:avLst/>
          </a:prstGeom>
          <a:solidFill>
            <a:srgbClr val="173047"/>
          </a:solidFill>
          <a:ln w="19050">
            <a:solidFill>
              <a:srgbClr val="FF92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22576" y="3346704"/>
            <a:ext cx="1938528" cy="3931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9274"/>
                </a:solidFill>
                <a:latin typeface="Avenir Next"/>
              </a:rPr>
              <a:t>97 / 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22576" y="3822191"/>
            <a:ext cx="1938528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7FAFC"/>
                </a:solidFill>
                <a:latin typeface="Avenir Next"/>
              </a:rPr>
              <a:t>validation recordings overlap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5449824"/>
            <a:ext cx="34747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7FAFC"/>
                </a:solidFill>
                <a:latin typeface="Avenir Next"/>
              </a:rPr>
              <a:t>98.0% of validation phones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5760720"/>
            <a:ext cx="34747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EB0C3"/>
                </a:solidFill>
                <a:latin typeface="Avenir Next"/>
              </a:rPr>
              <a:t>sit inside those inferred voice clusters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37376" y="1764792"/>
            <a:ext cx="4727448" cy="4343400"/>
          </a:xfrm>
          <a:prstGeom prst="roundRect">
            <a:avLst/>
          </a:prstGeom>
          <a:solidFill>
            <a:srgbClr val="0D1C2D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48272" y="2075688"/>
            <a:ext cx="3017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7FAFC"/>
                </a:solidFill>
                <a:latin typeface="Avenir Next"/>
              </a:rPr>
              <a:t>What this changes</a:t>
            </a:r>
          </a:p>
        </p:txBody>
      </p:sp>
      <p:sp>
        <p:nvSpPr>
          <p:cNvPr id="18" name="Oval 17"/>
          <p:cNvSpPr/>
          <p:nvPr/>
        </p:nvSpPr>
        <p:spPr>
          <a:xfrm>
            <a:off x="6766560" y="2880360"/>
            <a:ext cx="91440" cy="91440"/>
          </a:xfrm>
          <a:prstGeom prst="ellipse">
            <a:avLst/>
          </a:prstGeom>
          <a:solidFill>
            <a:srgbClr val="FFC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0" y="2770632"/>
            <a:ext cx="3858768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AFC"/>
                </a:solidFill>
                <a:latin typeface="Avenir Next"/>
              </a:rPr>
              <a:t>92 / 100 validation prompts also appear in training.</a:t>
            </a:r>
          </a:p>
        </p:txBody>
      </p:sp>
      <p:sp>
        <p:nvSpPr>
          <p:cNvPr id="20" name="Oval 19"/>
          <p:cNvSpPr/>
          <p:nvPr/>
        </p:nvSpPr>
        <p:spPr>
          <a:xfrm>
            <a:off x="6766560" y="3639312"/>
            <a:ext cx="91440" cy="91440"/>
          </a:xfrm>
          <a:prstGeom prst="ellipse">
            <a:avLst/>
          </a:prstGeom>
          <a:solidFill>
            <a:srgbClr val="FF92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49440" y="3529584"/>
            <a:ext cx="3858768" cy="7132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AFC"/>
                </a:solidFill>
                <a:latin typeface="Avenir Next"/>
              </a:rPr>
              <a:t>Reported metrics describe a partly seen-speaker / seen-prompt distribution.</a:t>
            </a:r>
          </a:p>
        </p:txBody>
      </p:sp>
      <p:sp>
        <p:nvSpPr>
          <p:cNvPr id="22" name="Oval 21"/>
          <p:cNvSpPr/>
          <p:nvPr/>
        </p:nvSpPr>
        <p:spPr>
          <a:xfrm>
            <a:off x="6766560" y="4608576"/>
            <a:ext cx="91440" cy="91440"/>
          </a:xfrm>
          <a:prstGeom prst="ellipse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49440" y="4498848"/>
            <a:ext cx="3858768" cy="7132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AFC"/>
                </a:solidFill>
                <a:latin typeface="Avenir Next"/>
              </a:rPr>
              <a:t>A speaker-disjoint benchmark is required before making generalization claims.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48272" y="5477256"/>
            <a:ext cx="4096512" cy="365760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12864" y="5568696"/>
            <a:ext cx="3767328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9EB0C3"/>
                </a:solidFill>
                <a:latin typeface="Avenir Next"/>
              </a:rPr>
              <a:t>WavLM clusters are inferred voices—not verified identities.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21792" y="6483096"/>
            <a:ext cx="10945368" cy="0"/>
          </a:xfrm>
          <a:prstGeom prst="line">
            <a:avLst/>
          </a:prstGeom>
          <a:ln w="8890">
            <a:solidFill>
              <a:srgbClr val="284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21792" y="6537960"/>
            <a:ext cx="896112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9EB0C3"/>
                </a:solidFill>
                <a:latin typeface="Avenir Next"/>
              </a:rPr>
              <a:t>Sources: data/speaker_clusters/report.md; experiments/E03-speaker-leakage/README.md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58200" y="6537960"/>
            <a:ext cx="310896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9EB0C3"/>
                </a:solidFill>
                <a:latin typeface="Avenir Next"/>
              </a:rPr>
              <a:t>github.com/aviadarn/Accentedness-Scoring-Challenge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20040"/>
            <a:ext cx="548640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FE3D2"/>
                </a:solidFill>
                <a:latin typeface="Avenir Next"/>
              </a:rPr>
              <a:t>PHONE-LEVEL ACCENTEDNESS • TAKE-HOME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04088"/>
            <a:ext cx="1069848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7FAFC"/>
                </a:solidFill>
                <a:latin typeface="Avenir Next"/>
              </a:rPr>
              <a:t>Sniff test: right direction, weak separation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9184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EB0C3"/>
                </a:solidFill>
                <a:latin typeface="Avenir Next"/>
              </a:rPr>
              <a:t>09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21792" y="1417320"/>
            <a:ext cx="10945368" cy="0"/>
          </a:xfrm>
          <a:prstGeom prst="line">
            <a:avLst/>
          </a:prstGeom>
          <a:ln w="12700">
            <a:solidFill>
              <a:srgbClr val="284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58368" y="1773936"/>
            <a:ext cx="5266944" cy="4315968"/>
          </a:xfrm>
          <a:prstGeom prst="roundRect">
            <a:avLst/>
          </a:prstGeom>
          <a:solidFill>
            <a:srgbClr val="0D1C2D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2002536"/>
            <a:ext cx="260604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EB0C3"/>
                </a:solidFill>
                <a:latin typeface="Avenir Next"/>
              </a:rPr>
              <a:t>LEGACY E01 OWN-VOICE PAIR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1947672"/>
            <a:ext cx="1078992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FE3D2"/>
                </a:solidFill>
                <a:latin typeface="Avenir Next"/>
              </a:rPr>
              <a:t>+3.13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07992" y="2331720"/>
            <a:ext cx="1051560" cy="1737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EB0C3"/>
                </a:solidFill>
                <a:latin typeface="Avenir Next"/>
              </a:rPr>
              <a:t>mean points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944368"/>
            <a:ext cx="1252728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FAFC"/>
                </a:solidFill>
                <a:latin typeface="Avenir Next"/>
              </a:rPr>
              <a:t>Best American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40864" y="2852928"/>
            <a:ext cx="2898648" cy="457200"/>
          </a:xfrm>
          <a:prstGeom prst="round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340864" y="2852928"/>
            <a:ext cx="2030502" cy="457200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530352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FE3D2"/>
                </a:solidFill>
                <a:latin typeface="Avenir Next"/>
              </a:rPr>
              <a:t>70.05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3904487"/>
            <a:ext cx="1252728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FAFC"/>
                </a:solidFill>
                <a:latin typeface="Avenir Next"/>
              </a:rPr>
              <a:t>Non-native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40864" y="3813048"/>
            <a:ext cx="2898648" cy="457200"/>
          </a:xfrm>
          <a:prstGeom prst="round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340864" y="3813048"/>
            <a:ext cx="1939775" cy="457200"/>
          </a:xfrm>
          <a:prstGeom prst="roundRect">
            <a:avLst/>
          </a:prstGeom>
          <a:solidFill>
            <a:srgbClr val="FF92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3886200"/>
            <a:ext cx="530352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9274"/>
                </a:solidFill>
                <a:latin typeface="Avenir Next"/>
              </a:rPr>
              <a:t>66.92</a:t>
            </a:r>
          </a:p>
        </p:txBody>
      </p:sp>
      <p:sp>
        <p:nvSpPr>
          <p:cNvPr id="18" name="Oval 17"/>
          <p:cNvSpPr/>
          <p:nvPr/>
        </p:nvSpPr>
        <p:spPr>
          <a:xfrm>
            <a:off x="950976" y="5056632"/>
            <a:ext cx="91440" cy="91440"/>
          </a:xfrm>
          <a:prstGeom prst="ellipse">
            <a:avLst/>
          </a:prstGeom>
          <a:solidFill>
            <a:srgbClr val="FFC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33856" y="4946904"/>
            <a:ext cx="434340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7FAFC"/>
                </a:solidFill>
                <a:latin typeface="Avenir Next"/>
              </a:rPr>
              <a:t>Only 10 / 20 phones moved higher</a:t>
            </a:r>
          </a:p>
        </p:txBody>
      </p:sp>
      <p:sp>
        <p:nvSpPr>
          <p:cNvPr id="20" name="Oval 19"/>
          <p:cNvSpPr/>
          <p:nvPr/>
        </p:nvSpPr>
        <p:spPr>
          <a:xfrm>
            <a:off x="950976" y="5513832"/>
            <a:ext cx="91440" cy="91440"/>
          </a:xfrm>
          <a:prstGeom prst="ellipse">
            <a:avLst/>
          </a:prstGeom>
          <a:solidFill>
            <a:srgbClr val="FF92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33856" y="5404104"/>
            <a:ext cx="434340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7FAFC"/>
                </a:solidFill>
                <a:latin typeface="Avenir Next"/>
              </a:rPr>
              <a:t>Pace differed: 2.76s vs 4.08s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1773936"/>
            <a:ext cx="4937760" cy="4315968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2002536"/>
            <a:ext cx="29718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EB0C3"/>
                </a:solidFill>
                <a:latin typeface="Avenir Next"/>
              </a:rPr>
              <a:t>HEAVILY ACCENTED PHONES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37960" y="2532888"/>
            <a:ext cx="1965960" cy="1005840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02552" y="2670048"/>
            <a:ext cx="1636776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FE3D2"/>
                </a:solidFill>
                <a:latin typeface="Avenir Next"/>
              </a:rPr>
              <a:t>46.77%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02552" y="3172968"/>
            <a:ext cx="1636776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EB0C3"/>
                </a:solidFill>
                <a:latin typeface="Avenir Next"/>
              </a:rPr>
              <a:t>E16 SCORED BELOW 25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87384" y="2532888"/>
            <a:ext cx="1965960" cy="1005840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51976" y="2670048"/>
            <a:ext cx="1636776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9274"/>
                </a:solidFill>
                <a:latin typeface="Avenir Next"/>
              </a:rPr>
              <a:t>10.45%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51976" y="3172968"/>
            <a:ext cx="1636776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EB0C3"/>
                </a:solidFill>
                <a:latin typeface="Avenir Next"/>
              </a:rPr>
              <a:t>E16 INCORRECTLY ≥ 75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3867912"/>
            <a:ext cx="196596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AFC"/>
                </a:solidFill>
                <a:latin typeface="Avenir Next"/>
              </a:rPr>
              <a:t>Failure pattern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4242816"/>
            <a:ext cx="4224528" cy="9601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EB0C3"/>
                </a:solidFill>
                <a:latin typeface="Avenir Next"/>
              </a:rPr>
              <a:t>Historical E01 examples reacted when accent also hurt expected-phone recognition, but missed subtler non-American realizations that Whisper still recognized confidently.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37960" y="5330952"/>
            <a:ext cx="4224528" cy="429768"/>
          </a:xfrm>
          <a:prstGeom prst="roundRect">
            <a:avLst/>
          </a:prstGeom>
          <a:solidFill>
            <a:srgbClr val="173047"/>
          </a:solidFill>
          <a:ln w="12700">
            <a:solidFill>
              <a:srgbClr val="FF92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20840" y="5440680"/>
            <a:ext cx="3858768" cy="19202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9274"/>
                </a:solidFill>
                <a:latin typeface="Avenir Next"/>
              </a:rPr>
              <a:t>E16 raises label-0 recall, but still misses subtle errors.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21792" y="6483096"/>
            <a:ext cx="10945368" cy="0"/>
          </a:xfrm>
          <a:prstGeom prst="line">
            <a:avLst/>
          </a:prstGeom>
          <a:ln w="8890">
            <a:solidFill>
              <a:srgbClr val="284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21792" y="6537960"/>
            <a:ext cx="896112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9EB0C3"/>
                </a:solidFill>
                <a:latin typeface="Avenir Next"/>
              </a:rPr>
              <a:t>Sources: experiments/E07-sniff-tests/SNIFF_TEST.md; data/alpha054_confirmation/report.md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58200" y="6537960"/>
            <a:ext cx="310896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9EB0C3"/>
                </a:solidFill>
                <a:latin typeface="Avenir Next"/>
              </a:rPr>
              <a:t>github.com/aviadarn/Accentedness-Scoring-Challenge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20040"/>
            <a:ext cx="548640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FE3D2"/>
                </a:solidFill>
                <a:latin typeface="Avenir Next"/>
              </a:rPr>
              <a:t>PHONE-LEVEL ACCENTEDNESS • TAKE-HOME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04088"/>
            <a:ext cx="1069848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7FAFC"/>
                </a:solidFill>
                <a:latin typeface="Avenir Next"/>
              </a:rPr>
              <a:t>Automated judges did not validate the labels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9184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EB0C3"/>
                </a:solidFill>
                <a:latin typeface="Avenir Next"/>
              </a:rPr>
              <a:t>10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21792" y="1417320"/>
            <a:ext cx="10945368" cy="0"/>
          </a:xfrm>
          <a:prstGeom prst="line">
            <a:avLst/>
          </a:prstGeom>
          <a:ln w="12700">
            <a:solidFill>
              <a:srgbClr val="284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58368" y="1947672"/>
            <a:ext cx="3273552" cy="3346704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203704"/>
            <a:ext cx="2834640" cy="2834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7FAFC"/>
                </a:solidFill>
                <a:latin typeface="Avenir Next"/>
              </a:rPr>
              <a:t>GOPT teacher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798064"/>
            <a:ext cx="2834640" cy="5577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73B7FF"/>
                </a:solidFill>
                <a:latin typeface="Avenir Next"/>
              </a:rPr>
              <a:t>5,863 / 5,894 → label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3575304"/>
            <a:ext cx="2834640" cy="1033271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EB0C3"/>
                </a:solidFill>
                <a:latin typeface="Avenir Next"/>
              </a:rPr>
              <a:t>Useful ranking signal, but cross-corpus calibration collapsed near native-like; macro-F1 0.299.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9536" y="4754880"/>
            <a:ext cx="1627632" cy="292608"/>
          </a:xfrm>
          <a:prstGeom prst="roundRect">
            <a:avLst/>
          </a:prstGeom>
          <a:solidFill>
            <a:srgbClr val="73B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4764024"/>
            <a:ext cx="1536192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81321"/>
                </a:solidFill>
                <a:latin typeface="Avenir Next"/>
              </a:rPr>
              <a:t>NOT SAFE TO RELABEL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62272" y="1947672"/>
            <a:ext cx="3273552" cy="3346704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203704"/>
            <a:ext cx="2834640" cy="2834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7FAFC"/>
                </a:solidFill>
                <a:latin typeface="Avenir Next"/>
              </a:rPr>
              <a:t>Local audio LLM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798064"/>
            <a:ext cx="2834640" cy="5577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C857"/>
                </a:solidFill>
                <a:latin typeface="Avenir Next"/>
              </a:rPr>
              <a:t>347 / 347 → label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3575304"/>
            <a:ext cx="2834640" cy="1033271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EB0C3"/>
                </a:solidFill>
                <a:latin typeface="Avenir Next"/>
              </a:rPr>
              <a:t>Gemma 4 12B passed structure checks but failed the informativeness gate completely.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4754880"/>
            <a:ext cx="1627632" cy="292608"/>
          </a:xfrm>
          <a:prstGeom prst="roundRect">
            <a:avLst/>
          </a:prstGeom>
          <a:solidFill>
            <a:srgbClr val="FFC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09159" y="4764024"/>
            <a:ext cx="1536192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81321"/>
                </a:solidFill>
                <a:latin typeface="Avenir Next"/>
              </a:rPr>
              <a:t>NOT SAFE TO RELABEL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66175" y="1947672"/>
            <a:ext cx="3273552" cy="3346704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67344" y="2203704"/>
            <a:ext cx="2834640" cy="2834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7FAFC"/>
                </a:solidFill>
                <a:latin typeface="Avenir Next"/>
              </a:rPr>
              <a:t>GPT audio judge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67344" y="2798064"/>
            <a:ext cx="2834640" cy="5577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9274"/>
                </a:solidFill>
                <a:latin typeface="Avenir Next"/>
              </a:rPr>
              <a:t>40% agreement • 0 label-0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67344" y="3575304"/>
            <a:ext cx="2834640" cy="1033271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EB0C3"/>
                </a:solidFill>
                <a:latin typeface="Avenir Next"/>
              </a:rPr>
              <a:t>Balanced 30-item audit: macro-F1 0.299, QWK 0.143; it remained too lenient.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67344" y="4754880"/>
            <a:ext cx="1627632" cy="292608"/>
          </a:xfrm>
          <a:prstGeom prst="roundRect">
            <a:avLst/>
          </a:prstGeom>
          <a:solidFill>
            <a:srgbClr val="FF92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13064" y="4764024"/>
            <a:ext cx="1536192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81321"/>
                </a:solidFill>
                <a:latin typeface="Avenir Next"/>
              </a:rPr>
              <a:t>NOT SAFE TO RELABEL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5623560"/>
            <a:ext cx="10881360" cy="502920"/>
          </a:xfrm>
          <a:prstGeom prst="roundRect">
            <a:avLst/>
          </a:prstGeom>
          <a:solidFill>
            <a:srgbClr val="173047"/>
          </a:solidFill>
          <a:ln w="12700">
            <a:solidFill>
              <a:srgbClr val="5FE3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5760720"/>
            <a:ext cx="1207008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FE3D2"/>
                </a:solidFill>
                <a:latin typeface="Avenir Next"/>
              </a:rPr>
              <a:t>Next valid step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03704" y="5705856"/>
            <a:ext cx="90068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AFC"/>
                </a:solidFill>
                <a:latin typeface="Avenir Next"/>
              </a:rPr>
              <a:t>Blinded expert review. The deterministic packets exist; no human-rating ledger exists yet.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21792" y="6483096"/>
            <a:ext cx="10945368" cy="0"/>
          </a:xfrm>
          <a:prstGeom prst="line">
            <a:avLst/>
          </a:prstGeom>
          <a:ln w="8890">
            <a:solidFill>
              <a:srgbClr val="284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21792" y="6537960"/>
            <a:ext cx="896112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9EB0C3"/>
                </a:solidFill>
                <a:latin typeface="Avenir Next"/>
              </a:rPr>
              <a:t>Sources: experiments/E09–E13; E11/GOPT_PILOT_RESULTS.md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58200" y="6537960"/>
            <a:ext cx="310896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9EB0C3"/>
                </a:solidFill>
                <a:latin typeface="Avenir Next"/>
              </a:rPr>
              <a:t>github.com/aviadarn/Accentedness-Scoring-Challenge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20040"/>
            <a:ext cx="548640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FE3D2"/>
                </a:solidFill>
                <a:latin typeface="Avenir Next"/>
              </a:rPr>
              <a:t>PHONE-LEVEL ACCENTEDNESS • TAKE-HOME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04088"/>
            <a:ext cx="1069848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7FAFC"/>
                </a:solidFill>
                <a:latin typeface="Avenir Next"/>
              </a:rPr>
              <a:t>Demo: turn a score into a practice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9184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EB0C3"/>
                </a:solidFill>
                <a:latin typeface="Avenir Next"/>
              </a:rPr>
              <a:t>11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21792" y="1417320"/>
            <a:ext cx="10945368" cy="0"/>
          </a:xfrm>
          <a:prstGeom prst="line">
            <a:avLst/>
          </a:prstGeom>
          <a:ln w="12700">
            <a:solidFill>
              <a:srgbClr val="284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58368" y="1719072"/>
            <a:ext cx="6784848" cy="4526280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6784848" cy="475488"/>
          </a:xfrm>
          <a:prstGeom prst="rect">
            <a:avLst/>
          </a:prstGeom>
          <a:solidFill>
            <a:srgbClr val="DC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1865376"/>
            <a:ext cx="91440" cy="91440"/>
          </a:xfrm>
          <a:prstGeom prst="ellipse">
            <a:avLst/>
          </a:prstGeom>
          <a:solidFill>
            <a:srgbClr val="FF92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865376"/>
            <a:ext cx="91440" cy="91440"/>
          </a:xfrm>
          <a:prstGeom prst="ellipse">
            <a:avLst/>
          </a:prstGeom>
          <a:solidFill>
            <a:srgbClr val="FFC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325880" y="1865376"/>
            <a:ext cx="91440" cy="91440"/>
          </a:xfrm>
          <a:prstGeom prst="ellipse">
            <a:avLst/>
          </a:prstGeom>
          <a:solidFill>
            <a:srgbClr val="A8E0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27048" y="1837943"/>
            <a:ext cx="25603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42033"/>
                </a:solidFill>
                <a:latin typeface="Avenir Next"/>
              </a:rPr>
              <a:t>Pronunciation practice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478024"/>
            <a:ext cx="1920240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2677B"/>
                </a:solidFill>
                <a:latin typeface="Avenir Next"/>
              </a:rPr>
              <a:t>Sentence to practice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7552" y="2807208"/>
            <a:ext cx="5230368" cy="512064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C8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2935224"/>
            <a:ext cx="443484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42033"/>
                </a:solidFill>
                <a:latin typeface="Avenir Next"/>
              </a:rPr>
              <a:t>We are both children together.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60720" y="2889504"/>
            <a:ext cx="283464" cy="283464"/>
          </a:xfrm>
          <a:prstGeom prst="roundRect">
            <a:avLst/>
          </a:prstGeom>
          <a:solidFill>
            <a:srgbClr val="73B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0" y="2926080"/>
            <a:ext cx="283464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7FAFC"/>
                </a:solidFill>
                <a:latin typeface="Avenir Next"/>
              </a:rPr>
              <a:t>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3602736"/>
            <a:ext cx="2176272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2677B"/>
                </a:solidFill>
                <a:latin typeface="Avenir Next"/>
              </a:rPr>
              <a:t>Generated phones • editable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87552" y="3922776"/>
            <a:ext cx="393192" cy="393192"/>
          </a:xfrm>
          <a:prstGeom prst="roundRect">
            <a:avLst/>
          </a:prstGeom>
          <a:solidFill>
            <a:srgbClr val="E4EEF4"/>
          </a:solidFill>
          <a:ln w="12700">
            <a:solidFill>
              <a:srgbClr val="C8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" y="4014215"/>
            <a:ext cx="393192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42033"/>
                </a:solidFill>
                <a:latin typeface="Avenir Next"/>
              </a:rPr>
              <a:t>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81328" y="3922776"/>
            <a:ext cx="393192" cy="393192"/>
          </a:xfrm>
          <a:prstGeom prst="roundRect">
            <a:avLst/>
          </a:prstGeom>
          <a:solidFill>
            <a:srgbClr val="E4EEF4"/>
          </a:solidFill>
          <a:ln w="12700">
            <a:solidFill>
              <a:srgbClr val="C8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81328" y="4014215"/>
            <a:ext cx="393192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42033"/>
                </a:solidFill>
                <a:latin typeface="Avenir Next"/>
              </a:rPr>
              <a:t>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75104" y="3922776"/>
            <a:ext cx="393192" cy="393192"/>
          </a:xfrm>
          <a:prstGeom prst="roundRect">
            <a:avLst/>
          </a:prstGeom>
          <a:solidFill>
            <a:srgbClr val="E4EEF4"/>
          </a:solidFill>
          <a:ln w="12700">
            <a:solidFill>
              <a:srgbClr val="C8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975104" y="4014215"/>
            <a:ext cx="393192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42033"/>
                </a:solidFill>
                <a:latin typeface="Avenir Next"/>
              </a:rPr>
              <a:t>j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468880" y="3922776"/>
            <a:ext cx="393192" cy="393192"/>
          </a:xfrm>
          <a:prstGeom prst="roundRect">
            <a:avLst/>
          </a:prstGeom>
          <a:solidFill>
            <a:srgbClr val="E4EEF4"/>
          </a:solidFill>
          <a:ln w="12700">
            <a:solidFill>
              <a:srgbClr val="C8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68880" y="4014215"/>
            <a:ext cx="393192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42033"/>
                </a:solidFill>
                <a:latin typeface="Avenir Next"/>
              </a:rPr>
              <a:t>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962656" y="3922776"/>
            <a:ext cx="393192" cy="393192"/>
          </a:xfrm>
          <a:prstGeom prst="roundRect">
            <a:avLst/>
          </a:prstGeom>
          <a:solidFill>
            <a:srgbClr val="E4EEF4"/>
          </a:solidFill>
          <a:ln w="12700">
            <a:solidFill>
              <a:srgbClr val="C8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62656" y="4014215"/>
            <a:ext cx="393192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42033"/>
                </a:solidFill>
                <a:latin typeface="Avenir Next"/>
              </a:rPr>
              <a:t>b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56432" y="3922776"/>
            <a:ext cx="393192" cy="393192"/>
          </a:xfrm>
          <a:prstGeom prst="roundRect">
            <a:avLst/>
          </a:prstGeom>
          <a:solidFill>
            <a:srgbClr val="E4EEF4"/>
          </a:solidFill>
          <a:ln w="12700">
            <a:solidFill>
              <a:srgbClr val="C8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56432" y="4014215"/>
            <a:ext cx="393192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42033"/>
                </a:solidFill>
                <a:latin typeface="Avenir Next"/>
              </a:rPr>
              <a:t>oʊ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950208" y="3922776"/>
            <a:ext cx="393192" cy="393192"/>
          </a:xfrm>
          <a:prstGeom prst="roundRect">
            <a:avLst/>
          </a:prstGeom>
          <a:solidFill>
            <a:srgbClr val="E4EEF4"/>
          </a:solidFill>
          <a:ln w="12700">
            <a:solidFill>
              <a:srgbClr val="C8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50208" y="4014215"/>
            <a:ext cx="393192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42033"/>
                </a:solidFill>
                <a:latin typeface="Avenir Next"/>
              </a:rPr>
              <a:t>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43984" y="3922776"/>
            <a:ext cx="393192" cy="393192"/>
          </a:xfrm>
          <a:prstGeom prst="roundRect">
            <a:avLst/>
          </a:prstGeom>
          <a:solidFill>
            <a:srgbClr val="E4EEF4"/>
          </a:solidFill>
          <a:ln w="12700">
            <a:solidFill>
              <a:srgbClr val="C8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43984" y="4014215"/>
            <a:ext cx="393192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42033"/>
                </a:solidFill>
                <a:latin typeface="Avenir Next"/>
              </a:rPr>
              <a:t>tʃ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37760" y="3922776"/>
            <a:ext cx="393192" cy="393192"/>
          </a:xfrm>
          <a:prstGeom prst="roundRect">
            <a:avLst/>
          </a:prstGeom>
          <a:solidFill>
            <a:srgbClr val="E4EEF4"/>
          </a:solidFill>
          <a:ln w="12700">
            <a:solidFill>
              <a:srgbClr val="C8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37760" y="4014215"/>
            <a:ext cx="393192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42033"/>
                </a:solidFill>
                <a:latin typeface="Avenir Next"/>
              </a:rPr>
              <a:t>ɪ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31536" y="3922776"/>
            <a:ext cx="393192" cy="393192"/>
          </a:xfrm>
          <a:prstGeom prst="roundRect">
            <a:avLst/>
          </a:prstGeom>
          <a:solidFill>
            <a:srgbClr val="E4EEF4"/>
          </a:solidFill>
          <a:ln w="12700">
            <a:solidFill>
              <a:srgbClr val="C8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31536" y="4014215"/>
            <a:ext cx="393192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42033"/>
                </a:solidFill>
                <a:latin typeface="Avenir Next"/>
              </a:rPr>
              <a:t>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87552" y="4645152"/>
            <a:ext cx="2359152" cy="630936"/>
          </a:xfrm>
          <a:prstGeom prst="roundRect">
            <a:avLst/>
          </a:prstGeom>
          <a:solidFill>
            <a:srgbClr val="73B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88720" y="4837176"/>
            <a:ext cx="1956816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FAFC"/>
                </a:solidFill>
                <a:latin typeface="Avenir Next"/>
              </a:rPr>
              <a:t>Record / upload audio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584448" y="4645152"/>
            <a:ext cx="2633472" cy="630936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85615" y="4837176"/>
            <a:ext cx="2231136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42033"/>
                </a:solidFill>
                <a:latin typeface="Avenir Next"/>
              </a:rPr>
              <a:t>Score pronunciation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7552" y="5577840"/>
            <a:ext cx="105156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52677B"/>
                </a:solidFill>
                <a:latin typeface="Avenir Next"/>
              </a:rPr>
              <a:t>Score bands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901952" y="5532120"/>
            <a:ext cx="164592" cy="164592"/>
          </a:xfrm>
          <a:prstGeom prst="roundRect">
            <a:avLst/>
          </a:prstGeom>
          <a:solidFill>
            <a:srgbClr val="FF92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130552" y="5513832"/>
            <a:ext cx="859536" cy="1737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2677B"/>
                </a:solidFill>
                <a:latin typeface="Avenir Next"/>
              </a:rPr>
              <a:t>practice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27832" y="5532120"/>
            <a:ext cx="164592" cy="164592"/>
          </a:xfrm>
          <a:prstGeom prst="roundRect">
            <a:avLst/>
          </a:prstGeom>
          <a:solidFill>
            <a:srgbClr val="FFC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456432" y="5513832"/>
            <a:ext cx="859536" cy="1737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2677B"/>
                </a:solidFill>
                <a:latin typeface="Avenir Next"/>
              </a:rPr>
              <a:t>developing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553712" y="5532120"/>
            <a:ext cx="164592" cy="164592"/>
          </a:xfrm>
          <a:prstGeom prst="roundRect">
            <a:avLst/>
          </a:prstGeom>
          <a:solidFill>
            <a:srgbClr val="A8E0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82312" y="5513832"/>
            <a:ext cx="859536" cy="1737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2677B"/>
                </a:solidFill>
                <a:latin typeface="Avenir Next"/>
              </a:rPr>
              <a:t>strong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836408" y="1810512"/>
            <a:ext cx="28346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7FAFC"/>
                </a:solidFill>
                <a:latin typeface="Avenir Next"/>
              </a:rPr>
              <a:t>Product choices</a:t>
            </a:r>
          </a:p>
        </p:txBody>
      </p:sp>
      <p:sp>
        <p:nvSpPr>
          <p:cNvPr id="50" name="Oval 49"/>
          <p:cNvSpPr/>
          <p:nvPr/>
        </p:nvSpPr>
        <p:spPr>
          <a:xfrm>
            <a:off x="7845552" y="2596896"/>
            <a:ext cx="91440" cy="91440"/>
          </a:xfrm>
          <a:prstGeom prst="ellipse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28431" y="2487168"/>
            <a:ext cx="2907791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AFC"/>
                </a:solidFill>
                <a:latin typeface="Avenir Next"/>
              </a:rPr>
              <a:t>Microphone or upload</a:t>
            </a:r>
          </a:p>
        </p:txBody>
      </p:sp>
      <p:sp>
        <p:nvSpPr>
          <p:cNvPr id="52" name="Oval 51"/>
          <p:cNvSpPr/>
          <p:nvPr/>
        </p:nvSpPr>
        <p:spPr>
          <a:xfrm>
            <a:off x="7845552" y="3081528"/>
            <a:ext cx="91440" cy="91440"/>
          </a:xfrm>
          <a:prstGeom prst="ellipse">
            <a:avLst/>
          </a:prstGeom>
          <a:solidFill>
            <a:srgbClr val="73B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028431" y="2971800"/>
            <a:ext cx="2907791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AFC"/>
                </a:solidFill>
                <a:latin typeface="Avenir Next"/>
              </a:rPr>
              <a:t>Sentence playback</a:t>
            </a:r>
          </a:p>
        </p:txBody>
      </p:sp>
      <p:sp>
        <p:nvSpPr>
          <p:cNvPr id="54" name="Oval 53"/>
          <p:cNvSpPr/>
          <p:nvPr/>
        </p:nvSpPr>
        <p:spPr>
          <a:xfrm>
            <a:off x="7845552" y="3566160"/>
            <a:ext cx="91440" cy="91440"/>
          </a:xfrm>
          <a:prstGeom prst="ellipse">
            <a:avLst/>
          </a:prstGeom>
          <a:solidFill>
            <a:srgbClr val="FFC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028431" y="3456432"/>
            <a:ext cx="2907791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AFC"/>
                </a:solidFill>
                <a:latin typeface="Avenir Next"/>
              </a:rPr>
              <a:t>Automatic, editable phonemes</a:t>
            </a:r>
          </a:p>
        </p:txBody>
      </p:sp>
      <p:sp>
        <p:nvSpPr>
          <p:cNvPr id="56" name="Oval 55"/>
          <p:cNvSpPr/>
          <p:nvPr/>
        </p:nvSpPr>
        <p:spPr>
          <a:xfrm>
            <a:off x="7845552" y="4050791"/>
            <a:ext cx="91440" cy="91440"/>
          </a:xfrm>
          <a:prstGeom prst="ellipse">
            <a:avLst/>
          </a:prstGeom>
          <a:solidFill>
            <a:srgbClr val="FF92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028431" y="3941063"/>
            <a:ext cx="2907791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AFC"/>
                </a:solidFill>
                <a:latin typeface="Avenir Next"/>
              </a:rPr>
              <a:t>Ordered per-phone feedback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845552" y="4626864"/>
            <a:ext cx="3364992" cy="987552"/>
          </a:xfrm>
          <a:prstGeom prst="roundRect">
            <a:avLst/>
          </a:prstGeom>
          <a:solidFill>
            <a:srgbClr val="173047"/>
          </a:solidFill>
          <a:ln w="12700">
            <a:solidFill>
              <a:srgbClr val="5FE3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046720" y="4800600"/>
            <a:ext cx="2962656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FE3D2"/>
                </a:solidFill>
                <a:latin typeface="Avenir Next"/>
              </a:rPr>
              <a:t>Difficulty ≠ model score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46720" y="5166360"/>
            <a:ext cx="2962656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7FAFC"/>
                </a:solidFill>
                <a:latin typeface="Avenir Next"/>
              </a:rPr>
              <a:t>Keep raw scores fixed; adapt only the coaching threshold per phone and learner.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45552" y="5925312"/>
            <a:ext cx="3364992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EB0C3"/>
                </a:solidFill>
                <a:latin typeface="Menlo"/>
              </a:rPr>
              <a:t>Run locally:  cd submission  •  uv run python demo_app.py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621792" y="6483096"/>
            <a:ext cx="10945368" cy="0"/>
          </a:xfrm>
          <a:prstGeom prst="line">
            <a:avLst/>
          </a:prstGeom>
          <a:ln w="8890">
            <a:solidFill>
              <a:srgbClr val="284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621792" y="6537960"/>
            <a:ext cx="896112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9EB0C3"/>
                </a:solidFill>
                <a:latin typeface="Avenir Next"/>
              </a:rPr>
              <a:t>Sources: submission/demo_app.py; submission/README.md; submission/WRITEUP.md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58200" y="6537960"/>
            <a:ext cx="310896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9EB0C3"/>
                </a:solidFill>
                <a:latin typeface="Avenir Next"/>
              </a:rPr>
              <a:t>github.com/aviadarn/Accentedness-Scoring-Challenge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20040"/>
            <a:ext cx="548640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FE3D2"/>
                </a:solidFill>
                <a:latin typeface="Avenir Next"/>
              </a:rPr>
              <a:t>PHONE-LEVEL ACCENTEDNESS • TAKE-HOME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04088"/>
            <a:ext cx="1069848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7FAFC"/>
                </a:solidFill>
                <a:latin typeface="Avenir Next"/>
              </a:rPr>
              <a:t>Takeaway: useful signal, honest uncertainty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9184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EB0C3"/>
                </a:solidFill>
                <a:latin typeface="Avenir Next"/>
              </a:rPr>
              <a:t>12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21792" y="1417320"/>
            <a:ext cx="10945368" cy="0"/>
          </a:xfrm>
          <a:prstGeom prst="line">
            <a:avLst/>
          </a:prstGeom>
          <a:ln w="12700">
            <a:solidFill>
              <a:srgbClr val="284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783080"/>
            <a:ext cx="10716768" cy="10789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7FAFC"/>
                </a:solidFill>
                <a:latin typeface="Avenir Next"/>
              </a:rPr>
              <a:t>The model learned </a:t>
            </a:r>
            <a:r>
              <a:rPr sz="2800" b="1" i="0">
                <a:solidFill>
                  <a:srgbClr val="5FE3D2"/>
                </a:solidFill>
                <a:latin typeface="Avenir Next"/>
              </a:rPr>
              <a:t>useful acoustic signal</a:t>
            </a:r>
            <a:r>
              <a:rPr sz="2800" b="1" i="0">
                <a:solidFill>
                  <a:srgbClr val="F7FAFC"/>
                </a:solidFill>
                <a:latin typeface="Avenir Next"/>
              </a:rPr>
              <a:t>.
The evaluation has not yet proven </a:t>
            </a:r>
            <a:r>
              <a:rPr sz="2800" b="1" i="0">
                <a:solidFill>
                  <a:srgbClr val="FF9274"/>
                </a:solidFill>
                <a:latin typeface="Avenir Next"/>
              </a:rPr>
              <a:t>new-speaker robustness</a:t>
            </a:r>
            <a:r>
              <a:rPr sz="2800" b="1" i="0">
                <a:solidFill>
                  <a:srgbClr val="F7FAFC"/>
                </a:solidFill>
                <a:latin typeface="Avenir Next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3172968"/>
            <a:ext cx="3319272" cy="1856231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3374136"/>
            <a:ext cx="457200" cy="292608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383279"/>
            <a:ext cx="36576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81321"/>
                </a:solidFill>
                <a:latin typeface="Avenir Next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58768"/>
            <a:ext cx="272491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7FAFC"/>
                </a:solidFill>
                <a:latin typeface="Avenir Next"/>
              </a:rPr>
              <a:t>Benchmark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370832"/>
            <a:ext cx="2788920" cy="4480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EB0C3"/>
                </a:solidFill>
                <a:latin typeface="Avenir Next"/>
              </a:rPr>
              <a:t>Collect a genuinely speaker-disjoint, expert-rated evaluation set.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3172968"/>
            <a:ext cx="3319272" cy="1856231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90288" y="3374136"/>
            <a:ext cx="457200" cy="292608"/>
          </a:xfrm>
          <a:prstGeom prst="roundRect">
            <a:avLst/>
          </a:prstGeom>
          <a:solidFill>
            <a:srgbClr val="73B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7" y="3383279"/>
            <a:ext cx="36576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81321"/>
                </a:solidFill>
                <a:latin typeface="Avenir Next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3858768"/>
            <a:ext cx="272491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7FAFC"/>
                </a:solidFill>
                <a:latin typeface="Avenir Next"/>
              </a:rPr>
              <a:t>Calibrate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4370832"/>
            <a:ext cx="2788920" cy="4480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EB0C3"/>
                </a:solidFill>
                <a:latin typeface="Avenir Next"/>
              </a:rPr>
              <a:t>Review label disagreements and fit phone-specific calibration with uncertainty.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5007" y="3172968"/>
            <a:ext cx="3319272" cy="1856231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66175" y="3374136"/>
            <a:ext cx="457200" cy="292608"/>
          </a:xfrm>
          <a:prstGeom prst="roundRect">
            <a:avLst/>
          </a:prstGeom>
          <a:solidFill>
            <a:srgbClr val="FFC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11896" y="3383279"/>
            <a:ext cx="36576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81321"/>
                </a:solidFill>
                <a:latin typeface="Avenir Next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66175" y="3858768"/>
            <a:ext cx="272491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7FAFC"/>
                </a:solidFill>
                <a:latin typeface="Avenir Next"/>
              </a:rPr>
              <a:t>Improve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6175" y="4370832"/>
            <a:ext cx="2788920" cy="4480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EB0C3"/>
                </a:solidFill>
                <a:latin typeface="Avenir Next"/>
              </a:rPr>
              <a:t>Test a more accent-sensitive encoder across seeds and matched-pace voice pairs.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5376672"/>
            <a:ext cx="10671048" cy="630936"/>
          </a:xfrm>
          <a:prstGeom prst="roundRect">
            <a:avLst/>
          </a:prstGeom>
          <a:solidFill>
            <a:srgbClr val="173047"/>
          </a:solidFill>
          <a:ln w="12700">
            <a:solidFill>
              <a:srgbClr val="FF92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5550408"/>
            <a:ext cx="1024128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9274"/>
                </a:solidFill>
                <a:latin typeface="Avenir Next"/>
              </a:rPr>
              <a:t>Current scope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5495544"/>
            <a:ext cx="9061704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7FAFC"/>
                </a:solidFill>
                <a:latin typeface="Avenir Next"/>
              </a:rPr>
              <a:t>A local coaching prototype with visible uncertainty—not a high-stakes judgment of identity, ability, or proficiency.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6172200"/>
            <a:ext cx="10671048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FE3D2"/>
                </a:solidFill>
                <a:latin typeface="Avenir Next"/>
              </a:rPr>
              <a:t>Questions  •  discussion  •  live demo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21792" y="6483096"/>
            <a:ext cx="10945368" cy="0"/>
          </a:xfrm>
          <a:prstGeom prst="line">
            <a:avLst/>
          </a:prstGeom>
          <a:ln w="8890">
            <a:solidFill>
              <a:srgbClr val="284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21792" y="6537960"/>
            <a:ext cx="896112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9EB0C3"/>
                </a:solidFill>
                <a:latin typeface="Avenir Next"/>
              </a:rPr>
              <a:t>Sources: submission/WRITEUP.md; experiments/README.md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58200" y="6537960"/>
            <a:ext cx="310896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9EB0C3"/>
                </a:solidFill>
                <a:latin typeface="Avenir Next"/>
              </a:rPr>
              <a:t>github.com/aviadarn/Accentedness-Scoring-Challenge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Phone-Level Accentedness Scoring</dc:title>
  <dc:subject>ML take-home challenge presentation</dc:subject>
  <dc:creator>Aviad Arnias</dc:creator>
  <cp:keywords>speech, pronunciation, accentedness, ordinal regression, Whisper</cp:keywords>
  <dc:description>Generated from presentation/generate_slides.py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