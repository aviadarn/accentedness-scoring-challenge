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3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549640" y="-320040"/>
            <a:ext cx="4160520" cy="4160520"/>
          </a:xfrm>
          <a:prstGeom prst="ellipse">
            <a:avLst/>
          </a:prstGeom>
          <a:noFill/>
          <a:ln w="17780">
            <a:solidFill>
              <a:srgbClr val="2843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326880" y="4526280"/>
            <a:ext cx="3108960" cy="3108960"/>
          </a:xfrm>
          <a:prstGeom prst="ellipse">
            <a:avLst/>
          </a:prstGeom>
          <a:noFill/>
          <a:ln w="13970">
            <a:solidFill>
              <a:srgbClr val="5FE3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530352"/>
            <a:ext cx="347472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5FE3D2"/>
                </a:solidFill>
                <a:latin typeface="Avenir Next"/>
              </a:rPr>
              <a:t>ML TAKE-HOME •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097280"/>
            <a:ext cx="6766560" cy="15727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800" b="1" i="0">
                <a:solidFill>
                  <a:srgbClr val="F7FAFC"/>
                </a:solidFill>
                <a:latin typeface="Avenir Next"/>
              </a:rPr>
              <a:t>Phone-level
accentedness scoring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2889504"/>
            <a:ext cx="1051560" cy="73152"/>
          </a:xfrm>
          <a:prstGeom prst="rect">
            <a:avLst/>
          </a:prstGeom>
          <a:solidFill>
            <a:srgbClr val="5FE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3163824"/>
            <a:ext cx="6309360" cy="8046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9EB0C3"/>
                </a:solidFill>
                <a:latin typeface="Avenir Next"/>
              </a:rPr>
              <a:t>From speech and expected phonemes to an interpretable
0–100 score for every sound.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4224528"/>
            <a:ext cx="1481328" cy="292608"/>
          </a:xfrm>
          <a:prstGeom prst="roundRect">
            <a:avLst/>
          </a:prstGeom>
          <a:solidFill>
            <a:srgbClr val="173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4088" y="4233672"/>
            <a:ext cx="1389888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5FE3D2"/>
                </a:solidFill>
                <a:latin typeface="Avenir Next"/>
              </a:rPr>
              <a:t>AUDIO + PHONES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286000" y="4224528"/>
            <a:ext cx="1481328" cy="292608"/>
          </a:xfrm>
          <a:prstGeom prst="roundRect">
            <a:avLst/>
          </a:prstGeom>
          <a:solidFill>
            <a:srgbClr val="173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331720" y="4233672"/>
            <a:ext cx="1389888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73B7FF"/>
                </a:solidFill>
                <a:latin typeface="Avenir Next"/>
              </a:rPr>
              <a:t>ORDINAL MODEL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913632" y="4224528"/>
            <a:ext cx="1417320" cy="292608"/>
          </a:xfrm>
          <a:prstGeom prst="roundRect">
            <a:avLst/>
          </a:prstGeom>
          <a:solidFill>
            <a:srgbClr val="173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959352" y="4233672"/>
            <a:ext cx="1325880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9274"/>
                </a:solidFill>
                <a:latin typeface="Avenir Next"/>
              </a:rPr>
              <a:t>GRADIO DEMO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5650992"/>
            <a:ext cx="2743200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7FAFC"/>
                </a:solidFill>
                <a:latin typeface="Avenir Next"/>
              </a:rPr>
              <a:t>Aviad Arnias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6007608"/>
            <a:ext cx="4206240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EB0C3"/>
                </a:solidFill>
                <a:latin typeface="Avenir Next"/>
              </a:rPr>
              <a:t>Modeling • evaluation • product demo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54112" y="713232"/>
            <a:ext cx="3767328" cy="5349240"/>
          </a:xfrm>
          <a:prstGeom prst="roundRect">
            <a:avLst/>
          </a:prstGeom>
          <a:solidFill>
            <a:srgbClr val="0D1C2D"/>
          </a:solidFill>
          <a:ln w="12700">
            <a:solidFill>
              <a:srgbClr val="2843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74152" y="1033271"/>
            <a:ext cx="233172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EB0C3"/>
                </a:solidFill>
                <a:latin typeface="Avenir Next"/>
              </a:rPr>
              <a:t>ILLUSTRATIVE OUTPUT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15022" y="2009393"/>
            <a:ext cx="45948" cy="96012"/>
          </a:xfrm>
          <a:prstGeom prst="roundRect">
            <a:avLst/>
          </a:prstGeom>
          <a:solidFill>
            <a:srgbClr val="5FE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224423" y="1971928"/>
            <a:ext cx="45948" cy="170942"/>
          </a:xfrm>
          <a:prstGeom prst="roundRect">
            <a:avLst/>
          </a:prstGeom>
          <a:solidFill>
            <a:srgbClr val="5FE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333825" y="1929395"/>
            <a:ext cx="45948" cy="256008"/>
          </a:xfrm>
          <a:prstGeom prst="roundRect">
            <a:avLst/>
          </a:prstGeom>
          <a:solidFill>
            <a:srgbClr val="5FE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443226" y="1883933"/>
            <a:ext cx="45948" cy="346933"/>
          </a:xfrm>
          <a:prstGeom prst="roundRect">
            <a:avLst/>
          </a:prstGeom>
          <a:solidFill>
            <a:srgbClr val="5FE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552628" y="1842894"/>
            <a:ext cx="45948" cy="429011"/>
          </a:xfrm>
          <a:prstGeom prst="roundRect">
            <a:avLst/>
          </a:prstGeom>
          <a:solidFill>
            <a:srgbClr val="5FE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662029" y="1817728"/>
            <a:ext cx="45948" cy="479342"/>
          </a:xfrm>
          <a:prstGeom prst="roundRect">
            <a:avLst/>
          </a:prstGeom>
          <a:solidFill>
            <a:srgbClr val="5FE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771430" y="1820276"/>
            <a:ext cx="45948" cy="474247"/>
          </a:xfrm>
          <a:prstGeom prst="roundRect">
            <a:avLst/>
          </a:prstGeom>
          <a:solidFill>
            <a:srgbClr val="5FE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880832" y="1857796"/>
            <a:ext cx="45948" cy="399206"/>
          </a:xfrm>
          <a:prstGeom prst="roundRect">
            <a:avLst/>
          </a:prstGeom>
          <a:solidFill>
            <a:srgbClr val="5FE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990233" y="1917098"/>
            <a:ext cx="45948" cy="280603"/>
          </a:xfrm>
          <a:prstGeom prst="roundRect">
            <a:avLst/>
          </a:prstGeom>
          <a:solidFill>
            <a:srgbClr val="5FE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099635" y="1796168"/>
            <a:ext cx="45948" cy="522462"/>
          </a:xfrm>
          <a:prstGeom prst="roundRect">
            <a:avLst/>
          </a:prstGeom>
          <a:solidFill>
            <a:srgbClr val="5FE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9209036" y="1678126"/>
            <a:ext cx="45948" cy="758547"/>
          </a:xfrm>
          <a:prstGeom prst="roundRect">
            <a:avLst/>
          </a:prstGeom>
          <a:solidFill>
            <a:srgbClr val="5FE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9318438" y="1588261"/>
            <a:ext cx="45948" cy="938276"/>
          </a:xfrm>
          <a:prstGeom prst="roundRect">
            <a:avLst/>
          </a:prstGeom>
          <a:solidFill>
            <a:srgbClr val="5FE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9427839" y="1547974"/>
            <a:ext cx="45948" cy="1018851"/>
          </a:xfrm>
          <a:prstGeom prst="roundRect">
            <a:avLst/>
          </a:prstGeom>
          <a:solidFill>
            <a:srgbClr val="5FE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9537240" y="1568327"/>
            <a:ext cx="45948" cy="978145"/>
          </a:xfrm>
          <a:prstGeom prst="roundRect">
            <a:avLst/>
          </a:prstGeom>
          <a:solidFill>
            <a:srgbClr val="5FE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9646642" y="1646398"/>
            <a:ext cx="45948" cy="822003"/>
          </a:xfrm>
          <a:prstGeom prst="roundRect">
            <a:avLst/>
          </a:prstGeom>
          <a:solidFill>
            <a:srgbClr val="5FE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9756043" y="1765733"/>
            <a:ext cx="45948" cy="583333"/>
          </a:xfrm>
          <a:prstGeom prst="roundRect">
            <a:avLst/>
          </a:prstGeom>
          <a:solidFill>
            <a:srgbClr val="5FE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9865445" y="1871227"/>
            <a:ext cx="45948" cy="372345"/>
          </a:xfrm>
          <a:prstGeom prst="roundRect">
            <a:avLst/>
          </a:prstGeom>
          <a:solidFill>
            <a:srgbClr val="5FE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9974846" y="1767860"/>
            <a:ext cx="45948" cy="579079"/>
          </a:xfrm>
          <a:prstGeom prst="roundRect">
            <a:avLst/>
          </a:prstGeom>
          <a:solidFill>
            <a:srgbClr val="5FE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10084248" y="1703192"/>
            <a:ext cx="45948" cy="708414"/>
          </a:xfrm>
          <a:prstGeom prst="roundRect">
            <a:avLst/>
          </a:prstGeom>
          <a:solidFill>
            <a:srgbClr val="5FE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10193649" y="1687227"/>
            <a:ext cx="45948" cy="740344"/>
          </a:xfrm>
          <a:prstGeom prst="roundRect">
            <a:avLst/>
          </a:prstGeom>
          <a:solidFill>
            <a:srgbClr val="5FE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10303050" y="1717425"/>
            <a:ext cx="45948" cy="679949"/>
          </a:xfrm>
          <a:prstGeom prst="roundRect">
            <a:avLst/>
          </a:prstGeom>
          <a:solidFill>
            <a:srgbClr val="5FE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10412452" y="1781022"/>
            <a:ext cx="45948" cy="552755"/>
          </a:xfrm>
          <a:prstGeom prst="roundRect">
            <a:avLst/>
          </a:prstGeom>
          <a:solidFill>
            <a:srgbClr val="5FE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10521853" y="1860141"/>
            <a:ext cx="45948" cy="394516"/>
          </a:xfrm>
          <a:prstGeom prst="roundRect">
            <a:avLst/>
          </a:prstGeom>
          <a:solidFill>
            <a:srgbClr val="5FE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10631255" y="1937691"/>
            <a:ext cx="45948" cy="239416"/>
          </a:xfrm>
          <a:prstGeom prst="roundRect">
            <a:avLst/>
          </a:prstGeom>
          <a:solidFill>
            <a:srgbClr val="5FE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10740656" y="1985414"/>
            <a:ext cx="45948" cy="143971"/>
          </a:xfrm>
          <a:prstGeom prst="roundRect">
            <a:avLst/>
          </a:prstGeom>
          <a:solidFill>
            <a:srgbClr val="5FE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10850058" y="1956274"/>
            <a:ext cx="45948" cy="202250"/>
          </a:xfrm>
          <a:prstGeom prst="roundRect">
            <a:avLst/>
          </a:prstGeom>
          <a:solidFill>
            <a:srgbClr val="5FE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10959459" y="1937405"/>
            <a:ext cx="45948" cy="239988"/>
          </a:xfrm>
          <a:prstGeom prst="roundRect">
            <a:avLst/>
          </a:prstGeom>
          <a:solidFill>
            <a:srgbClr val="5FE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11068860" y="1924603"/>
            <a:ext cx="45948" cy="265592"/>
          </a:xfrm>
          <a:prstGeom prst="roundRect">
            <a:avLst/>
          </a:prstGeom>
          <a:solidFill>
            <a:srgbClr val="5FE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083296" y="2834640"/>
            <a:ext cx="182880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7FAFC"/>
                </a:solidFill>
                <a:latin typeface="Avenir Next"/>
              </a:rPr>
              <a:t>hello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738360" y="2926080"/>
            <a:ext cx="1389888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9EB0C3"/>
                </a:solidFill>
                <a:latin typeface="Avenir Next"/>
              </a:rPr>
              <a:t>expected phones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083296" y="3493008"/>
            <a:ext cx="667512" cy="804672"/>
          </a:xfrm>
          <a:prstGeom prst="roundRect">
            <a:avLst/>
          </a:prstGeom>
          <a:solidFill>
            <a:srgbClr val="173047"/>
          </a:solidFill>
          <a:ln w="17780">
            <a:solidFill>
              <a:srgbClr val="A8E0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083296" y="3566160"/>
            <a:ext cx="667512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7FAFC"/>
                </a:solidFill>
                <a:latin typeface="Avenir Next"/>
              </a:rPr>
              <a:t>h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083296" y="3931920"/>
            <a:ext cx="667512" cy="2103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A8E063"/>
                </a:solidFill>
                <a:latin typeface="Avenir Next"/>
              </a:rPr>
              <a:t>92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8897112" y="3493008"/>
            <a:ext cx="667512" cy="804672"/>
          </a:xfrm>
          <a:prstGeom prst="roundRect">
            <a:avLst/>
          </a:prstGeom>
          <a:solidFill>
            <a:srgbClr val="173047"/>
          </a:solidFill>
          <a:ln w="17780">
            <a:solidFill>
              <a:srgbClr val="FFC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897112" y="3566160"/>
            <a:ext cx="667512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7FAFC"/>
                </a:solidFill>
                <a:latin typeface="Avenir Next"/>
              </a:rPr>
              <a:t>ə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897112" y="3931920"/>
            <a:ext cx="667512" cy="2103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C857"/>
                </a:solidFill>
                <a:latin typeface="Avenir Next"/>
              </a:rPr>
              <a:t>45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9710928" y="3493008"/>
            <a:ext cx="667512" cy="804672"/>
          </a:xfrm>
          <a:prstGeom prst="roundRect">
            <a:avLst/>
          </a:prstGeom>
          <a:solidFill>
            <a:srgbClr val="173047"/>
          </a:solidFill>
          <a:ln w="17780">
            <a:solidFill>
              <a:srgbClr val="A8E0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710928" y="3566160"/>
            <a:ext cx="667512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7FAFC"/>
                </a:solidFill>
                <a:latin typeface="Avenir Next"/>
              </a:rPr>
              <a:t>l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710928" y="3931920"/>
            <a:ext cx="667512" cy="2103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A8E063"/>
                </a:solidFill>
                <a:latin typeface="Avenir Next"/>
              </a:rPr>
              <a:t>89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10524744" y="3493008"/>
            <a:ext cx="667512" cy="804672"/>
          </a:xfrm>
          <a:prstGeom prst="roundRect">
            <a:avLst/>
          </a:prstGeom>
          <a:solidFill>
            <a:srgbClr val="173047"/>
          </a:solidFill>
          <a:ln w="17780">
            <a:solidFill>
              <a:srgbClr val="FF92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0524744" y="3566160"/>
            <a:ext cx="667512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7FAFC"/>
                </a:solidFill>
                <a:latin typeface="Avenir Next"/>
              </a:rPr>
              <a:t>oʊ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524744" y="3931920"/>
            <a:ext cx="667512" cy="2103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9274"/>
                </a:solidFill>
                <a:latin typeface="Avenir Next"/>
              </a:rPr>
              <a:t>12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8083296" y="4736592"/>
            <a:ext cx="3063240" cy="749808"/>
          </a:xfrm>
          <a:prstGeom prst="roundRect">
            <a:avLst/>
          </a:prstGeom>
          <a:solidFill>
            <a:srgbClr val="12263A"/>
          </a:solidFill>
          <a:ln w="12700">
            <a:solidFill>
              <a:srgbClr val="2843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266175" y="4919472"/>
            <a:ext cx="269748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73B7FF"/>
                </a:solidFill>
                <a:latin typeface="Menlo"/>
              </a:rPr>
              <a:t>Score = 50 × [P(Y≥1) + P(Y≥2)]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083296" y="5715000"/>
            <a:ext cx="306324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50" b="0" i="0">
                <a:solidFill>
                  <a:srgbClr val="9EB0C3"/>
                </a:solidFill>
                <a:latin typeface="Avenir Next"/>
              </a:rPr>
              <a:t>Source: challenge brief example; scores shown are illustrative.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3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20040"/>
            <a:ext cx="5486400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5FE3D2"/>
                </a:solidFill>
                <a:latin typeface="Avenir Next"/>
              </a:rPr>
              <a:t>PHONE-LEVEL ACCENTEDNESS • TAKE-HOME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704088"/>
            <a:ext cx="10698480" cy="6583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7FAFC"/>
                </a:solidFill>
                <a:latin typeface="Avenir Next"/>
              </a:rPr>
              <a:t>The task: localize pronunciation feedback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329184"/>
            <a:ext cx="438912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EB0C3"/>
                </a:solidFill>
                <a:latin typeface="Avenir Next"/>
              </a:rPr>
              <a:t>02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21792" y="1417320"/>
            <a:ext cx="10945368" cy="0"/>
          </a:xfrm>
          <a:prstGeom prst="line">
            <a:avLst/>
          </a:prstGeom>
          <a:ln w="12700">
            <a:solidFill>
              <a:srgbClr val="2843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658368" y="1828800"/>
            <a:ext cx="2816352" cy="2148840"/>
          </a:xfrm>
          <a:prstGeom prst="roundRect">
            <a:avLst/>
          </a:prstGeom>
          <a:solidFill>
            <a:srgbClr val="12263A"/>
          </a:solidFill>
          <a:ln w="12700">
            <a:solidFill>
              <a:srgbClr val="2843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59536" y="2011680"/>
            <a:ext cx="493776" cy="292608"/>
          </a:xfrm>
          <a:prstGeom prst="roundRect">
            <a:avLst/>
          </a:prstGeom>
          <a:solidFill>
            <a:srgbClr val="5FE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2020824"/>
            <a:ext cx="402336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81321"/>
                </a:solidFill>
                <a:latin typeface="Avenir Next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2532888"/>
            <a:ext cx="233172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7FAFC"/>
                </a:solidFill>
                <a:latin typeface="Avenir Next"/>
              </a:rPr>
              <a:t>Speech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3063240"/>
            <a:ext cx="2359152" cy="6583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EB0C3"/>
                </a:solidFill>
                <a:latin typeface="Avenir Next"/>
              </a:rPr>
              <a:t>Record or upload
a learner utterance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078224" y="1828800"/>
            <a:ext cx="2816352" cy="2148840"/>
          </a:xfrm>
          <a:prstGeom prst="roundRect">
            <a:avLst/>
          </a:prstGeom>
          <a:solidFill>
            <a:srgbClr val="12263A"/>
          </a:solidFill>
          <a:ln w="12700">
            <a:solidFill>
              <a:srgbClr val="2843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279392" y="2011680"/>
            <a:ext cx="493776" cy="292608"/>
          </a:xfrm>
          <a:prstGeom prst="roundRect">
            <a:avLst/>
          </a:prstGeom>
          <a:solidFill>
            <a:srgbClr val="73B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25112" y="2020824"/>
            <a:ext cx="402336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81321"/>
                </a:solidFill>
                <a:latin typeface="Avenir Next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79392" y="2532888"/>
            <a:ext cx="233172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7FAFC"/>
                </a:solidFill>
                <a:latin typeface="Avenir Next"/>
              </a:rPr>
              <a:t>Expected phones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79392" y="3063240"/>
            <a:ext cx="2359152" cy="6583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EB0C3"/>
                </a:solidFill>
                <a:latin typeface="Avenir Next"/>
              </a:rPr>
              <a:t>The intended phone
sequence—no timestamps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98079" y="1828800"/>
            <a:ext cx="2816352" cy="2148840"/>
          </a:xfrm>
          <a:prstGeom prst="roundRect">
            <a:avLst/>
          </a:prstGeom>
          <a:solidFill>
            <a:srgbClr val="12263A"/>
          </a:solidFill>
          <a:ln w="12700">
            <a:solidFill>
              <a:srgbClr val="2843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699248" y="2011680"/>
            <a:ext cx="493776" cy="292608"/>
          </a:xfrm>
          <a:prstGeom prst="roundRect">
            <a:avLst/>
          </a:prstGeom>
          <a:solidFill>
            <a:srgbClr val="FF92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44968" y="2020824"/>
            <a:ext cx="402336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81321"/>
                </a:solidFill>
                <a:latin typeface="Avenir Next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99248" y="2532888"/>
            <a:ext cx="233172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7FAFC"/>
                </a:solidFill>
                <a:latin typeface="Avenir Next"/>
              </a:rPr>
              <a:t>Phone scores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99248" y="3063240"/>
            <a:ext cx="2359152" cy="6583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EB0C3"/>
                </a:solidFill>
                <a:latin typeface="Avenir Next"/>
              </a:rPr>
              <a:t>One continuous 0–100
score per expected phone</a:t>
            </a:r>
          </a:p>
        </p:txBody>
      </p:sp>
      <p:sp>
        <p:nvSpPr>
          <p:cNvPr id="21" name="Chevron 20"/>
          <p:cNvSpPr/>
          <p:nvPr/>
        </p:nvSpPr>
        <p:spPr>
          <a:xfrm>
            <a:off x="3602736" y="2578608"/>
            <a:ext cx="310896" cy="640080"/>
          </a:xfrm>
          <a:prstGeom prst="chevron">
            <a:avLst/>
          </a:prstGeom>
          <a:solidFill>
            <a:srgbClr val="284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Chevron 21"/>
          <p:cNvSpPr/>
          <p:nvPr/>
        </p:nvSpPr>
        <p:spPr>
          <a:xfrm>
            <a:off x="7022592" y="2578608"/>
            <a:ext cx="310896" cy="640080"/>
          </a:xfrm>
          <a:prstGeom prst="chevron">
            <a:avLst/>
          </a:prstGeom>
          <a:solidFill>
            <a:srgbClr val="284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8" y="4416552"/>
            <a:ext cx="301752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7FAFC"/>
                </a:solidFill>
                <a:latin typeface="Avenir Next"/>
              </a:rPr>
              <a:t>What makes it difficult</a:t>
            </a:r>
          </a:p>
        </p:txBody>
      </p:sp>
      <p:sp>
        <p:nvSpPr>
          <p:cNvPr id="24" name="Oval 23"/>
          <p:cNvSpPr/>
          <p:nvPr/>
        </p:nvSpPr>
        <p:spPr>
          <a:xfrm>
            <a:off x="685800" y="5001768"/>
            <a:ext cx="91440" cy="91440"/>
          </a:xfrm>
          <a:prstGeom prst="ellipse">
            <a:avLst/>
          </a:prstGeom>
          <a:solidFill>
            <a:srgbClr val="5FE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8680" y="4892040"/>
            <a:ext cx="3291839" cy="5303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7FAFC"/>
                </a:solidFill>
                <a:latin typeface="Avenir Next"/>
              </a:rPr>
              <a:t>Labels are ordered (0 &lt; 1 &lt; 2), but output must be continuous.</a:t>
            </a:r>
          </a:p>
        </p:txBody>
      </p:sp>
      <p:sp>
        <p:nvSpPr>
          <p:cNvPr id="26" name="Oval 25"/>
          <p:cNvSpPr/>
          <p:nvPr/>
        </p:nvSpPr>
        <p:spPr>
          <a:xfrm>
            <a:off x="4169663" y="5001768"/>
            <a:ext cx="91440" cy="91440"/>
          </a:xfrm>
          <a:prstGeom prst="ellipse">
            <a:avLst/>
          </a:prstGeom>
          <a:solidFill>
            <a:srgbClr val="73B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52544" y="4892040"/>
            <a:ext cx="3200400" cy="5303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7FAFC"/>
                </a:solidFill>
                <a:latin typeface="Avenir Next"/>
              </a:rPr>
              <a:t>Phone boundaries are absent and must be inferred from audio.</a:t>
            </a:r>
          </a:p>
        </p:txBody>
      </p:sp>
      <p:sp>
        <p:nvSpPr>
          <p:cNvPr id="28" name="Oval 27"/>
          <p:cNvSpPr/>
          <p:nvPr/>
        </p:nvSpPr>
        <p:spPr>
          <a:xfrm>
            <a:off x="7571231" y="5001768"/>
            <a:ext cx="91440" cy="91440"/>
          </a:xfrm>
          <a:prstGeom prst="ellipse">
            <a:avLst/>
          </a:prstGeom>
          <a:solidFill>
            <a:srgbClr val="FF92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54111" y="4892040"/>
            <a:ext cx="3127248" cy="5303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7FAFC"/>
                </a:solidFill>
                <a:latin typeface="Avenir Next"/>
              </a:rPr>
              <a:t>The majority label dominates, so raw accuracy is misleading.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8368" y="5696712"/>
            <a:ext cx="10881360" cy="502920"/>
          </a:xfrm>
          <a:prstGeom prst="roundRect">
            <a:avLst/>
          </a:prstGeom>
          <a:solidFill>
            <a:srgbClr val="173047"/>
          </a:solidFill>
          <a:ln w="12700">
            <a:solidFill>
              <a:srgbClr val="2843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59536" y="5833872"/>
            <a:ext cx="1124712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5FE3D2"/>
                </a:solidFill>
                <a:latin typeface="Avenir Next"/>
              </a:rPr>
              <a:t>Product question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084831" y="5769864"/>
            <a:ext cx="9125712" cy="26517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7FAFC"/>
                </a:solidFill>
                <a:latin typeface="Avenir Next"/>
              </a:rPr>
              <a:t>Where did this realization sound less American-like—and what should the learner practice next?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621792" y="6483096"/>
            <a:ext cx="10945368" cy="0"/>
          </a:xfrm>
          <a:prstGeom prst="line">
            <a:avLst/>
          </a:prstGeom>
          <a:ln w="8890">
            <a:solidFill>
              <a:srgbClr val="2843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621792" y="6537960"/>
            <a:ext cx="896112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50" b="0" i="0">
                <a:solidFill>
                  <a:srgbClr val="9EB0C3"/>
                </a:solidFill>
                <a:latin typeface="Avenir Next"/>
              </a:rPr>
              <a:t>Sources: data/phone-scoring-ml-challenge.md; submission/WRITEUP.md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58200" y="6537960"/>
            <a:ext cx="310896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650" b="0" i="0">
                <a:solidFill>
                  <a:srgbClr val="9EB0C3"/>
                </a:solidFill>
                <a:latin typeface="Avenir Next"/>
              </a:rPr>
              <a:t>github.com/aviadarn/Accentedness-Scoring-Challenge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3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20040"/>
            <a:ext cx="5486400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5FE3D2"/>
                </a:solidFill>
                <a:latin typeface="Avenir Next"/>
              </a:rPr>
              <a:t>PHONE-LEVEL ACCENTEDNESS • TAKE-HOME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704088"/>
            <a:ext cx="10698480" cy="6583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7FAFC"/>
                </a:solidFill>
                <a:latin typeface="Avenir Next"/>
              </a:rPr>
              <a:t>The data is small—and heavily imbalanced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329184"/>
            <a:ext cx="438912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EB0C3"/>
                </a:solidFill>
                <a:latin typeface="Avenir Next"/>
              </a:rPr>
              <a:t>03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21792" y="1417320"/>
            <a:ext cx="10945368" cy="0"/>
          </a:xfrm>
          <a:prstGeom prst="line">
            <a:avLst/>
          </a:prstGeom>
          <a:ln w="12700">
            <a:solidFill>
              <a:srgbClr val="2843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49808" y="1764792"/>
            <a:ext cx="384048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EB0C3"/>
                </a:solidFill>
                <a:latin typeface="Avenir Next"/>
              </a:rPr>
              <a:t>TRAIN LABEL DISTRIBUTION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841248" y="5056632"/>
            <a:ext cx="5166360" cy="0"/>
          </a:xfrm>
          <a:prstGeom prst="line">
            <a:avLst/>
          </a:prstGeom>
          <a:ln w="19050">
            <a:solidFill>
              <a:srgbClr val="2843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1316736" y="4638252"/>
            <a:ext cx="841248" cy="418379"/>
          </a:xfrm>
          <a:prstGeom prst="roundRect">
            <a:avLst/>
          </a:prstGeom>
          <a:solidFill>
            <a:srgbClr val="FF92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07007" y="4299924"/>
            <a:ext cx="1060704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9274"/>
                </a:solidFill>
                <a:latin typeface="Avenir Next"/>
              </a:rPr>
              <a:t>12.23%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45336" y="5184648"/>
            <a:ext cx="384048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7FAFC"/>
                </a:solidFill>
                <a:latin typeface="Avenir Next"/>
              </a:rPr>
              <a:t>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2415" y="5477256"/>
            <a:ext cx="1389888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9EB0C3"/>
                </a:solidFill>
                <a:latin typeface="Avenir Next"/>
              </a:rPr>
              <a:t>heavily accented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89504" y="4787062"/>
            <a:ext cx="841248" cy="269569"/>
          </a:xfrm>
          <a:prstGeom prst="roundRect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79776" y="4448734"/>
            <a:ext cx="1060704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C857"/>
                </a:solidFill>
                <a:latin typeface="Avenir Next"/>
              </a:rPr>
              <a:t>7.88%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18104" y="5184648"/>
            <a:ext cx="384048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7FAFC"/>
                </a:solidFill>
                <a:latin typeface="Avenir Next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15184" y="5477256"/>
            <a:ext cx="1389888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9EB0C3"/>
                </a:solidFill>
                <a:latin typeface="Avenir Next"/>
              </a:rPr>
              <a:t>understandable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62272" y="2323649"/>
            <a:ext cx="841248" cy="2732982"/>
          </a:xfrm>
          <a:prstGeom prst="roundRect">
            <a:avLst/>
          </a:prstGeom>
          <a:solidFill>
            <a:srgbClr val="5FE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52544" y="1985321"/>
            <a:ext cx="1060704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5FE3D2"/>
                </a:solidFill>
                <a:latin typeface="Avenir Next"/>
              </a:rPr>
              <a:t>79.89%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90872" y="5184648"/>
            <a:ext cx="384048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7FAFC"/>
                </a:solidFill>
                <a:latin typeface="Avenir Next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87952" y="5477256"/>
            <a:ext cx="1389888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9EB0C3"/>
                </a:solidFill>
                <a:latin typeface="Avenir Next"/>
              </a:rPr>
              <a:t>native-like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19088" y="1792224"/>
            <a:ext cx="2240280" cy="1005840"/>
          </a:xfrm>
          <a:prstGeom prst="roundRect">
            <a:avLst/>
          </a:prstGeom>
          <a:solidFill>
            <a:srgbClr val="12263A"/>
          </a:solidFill>
          <a:ln w="12700">
            <a:solidFill>
              <a:srgbClr val="2843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79" y="1929384"/>
            <a:ext cx="1911096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5FE3D2"/>
                </a:solidFill>
                <a:latin typeface="Avenir Next"/>
              </a:rPr>
              <a:t>2,799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79" y="2432304"/>
            <a:ext cx="1911096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9EB0C3"/>
                </a:solidFill>
                <a:latin typeface="Avenir Next"/>
              </a:rPr>
              <a:t>TRAIN UTTERANCES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897112" y="1792224"/>
            <a:ext cx="2240280" cy="1005840"/>
          </a:xfrm>
          <a:prstGeom prst="roundRect">
            <a:avLst/>
          </a:prstGeom>
          <a:solidFill>
            <a:srgbClr val="12263A"/>
          </a:solidFill>
          <a:ln w="12700">
            <a:solidFill>
              <a:srgbClr val="2843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61704" y="1929384"/>
            <a:ext cx="1911096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73B7FF"/>
                </a:solidFill>
                <a:latin typeface="Avenir Next"/>
              </a:rPr>
              <a:t>100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61704" y="2432304"/>
            <a:ext cx="1911096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9EB0C3"/>
                </a:solidFill>
                <a:latin typeface="Avenir Next"/>
              </a:rPr>
              <a:t>VALIDATION UTTERANCES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19088" y="3054096"/>
            <a:ext cx="2240280" cy="1005840"/>
          </a:xfrm>
          <a:prstGeom prst="roundRect">
            <a:avLst/>
          </a:prstGeom>
          <a:solidFill>
            <a:srgbClr val="12263A"/>
          </a:solidFill>
          <a:ln w="12700">
            <a:solidFill>
              <a:srgbClr val="2843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83679" y="3191256"/>
            <a:ext cx="1911096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FFC857"/>
                </a:solidFill>
                <a:latin typeface="Avenir Next"/>
              </a:rPr>
              <a:t>90,239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79" y="3694176"/>
            <a:ext cx="1911096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9EB0C3"/>
                </a:solidFill>
                <a:latin typeface="Avenir Next"/>
              </a:rPr>
              <a:t>LABELED PHONES TOTAL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897112" y="3054096"/>
            <a:ext cx="2240280" cy="1005840"/>
          </a:xfrm>
          <a:prstGeom prst="roundRect">
            <a:avLst/>
          </a:prstGeom>
          <a:solidFill>
            <a:srgbClr val="12263A"/>
          </a:solidFill>
          <a:ln w="12700">
            <a:solidFill>
              <a:srgbClr val="2843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061704" y="3191256"/>
            <a:ext cx="1911096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FF9274"/>
                </a:solidFill>
                <a:latin typeface="Avenir Next"/>
              </a:rPr>
              <a:t>44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61704" y="3694176"/>
            <a:ext cx="1911096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9EB0C3"/>
                </a:solidFill>
                <a:latin typeface="Avenir Next"/>
              </a:rPr>
              <a:t>PHONE TYPES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19088" y="4334256"/>
            <a:ext cx="4718304" cy="1024128"/>
          </a:xfrm>
          <a:prstGeom prst="roundRect">
            <a:avLst/>
          </a:prstGeom>
          <a:solidFill>
            <a:srgbClr val="173047"/>
          </a:solidFill>
          <a:ln w="16510">
            <a:solidFill>
              <a:srgbClr val="FF92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656832" y="4517136"/>
            <a:ext cx="132588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FF9274"/>
                </a:solidFill>
                <a:latin typeface="Avenir Next"/>
              </a:rPr>
              <a:t>79.47%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01000" y="4489704"/>
            <a:ext cx="2816352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7FAFC"/>
                </a:solidFill>
                <a:latin typeface="Avenir Next"/>
              </a:rPr>
              <a:t>validation accuracy by always predicting “native-like”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01000" y="4965192"/>
            <a:ext cx="2816352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EB0C3"/>
                </a:solidFill>
                <a:latin typeface="Avenir Next"/>
              </a:rPr>
              <a:t>Yet recall for labels 0 and 1 is zero.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49808" y="5797296"/>
            <a:ext cx="1700784" cy="292608"/>
          </a:xfrm>
          <a:prstGeom prst="roundRect">
            <a:avLst/>
          </a:prstGeom>
          <a:solidFill>
            <a:srgbClr val="173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95528" y="5806440"/>
            <a:ext cx="1609344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9EB0C3"/>
                </a:solidFill>
                <a:latin typeface="Avenir Next"/>
              </a:rPr>
              <a:t>NO PHONE TIMESTAMPS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2596896" y="5797296"/>
            <a:ext cx="1298448" cy="292608"/>
          </a:xfrm>
          <a:prstGeom prst="roundRect">
            <a:avLst/>
          </a:prstGeom>
          <a:solidFill>
            <a:srgbClr val="173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642615" y="5806440"/>
            <a:ext cx="1207007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9EB0C3"/>
                </a:solidFill>
                <a:latin typeface="Avenir Next"/>
              </a:rPr>
              <a:t>NO SPEAKER IDs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041648" y="5797296"/>
            <a:ext cx="1664208" cy="292608"/>
          </a:xfrm>
          <a:prstGeom prst="roundRect">
            <a:avLst/>
          </a:prstGeom>
          <a:solidFill>
            <a:srgbClr val="173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087368" y="5806440"/>
            <a:ext cx="1572768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9EB0C3"/>
                </a:solidFill>
                <a:latin typeface="Avenir Next"/>
              </a:rPr>
              <a:t>NO RATER AGREEMENT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998464" y="5833872"/>
            <a:ext cx="512064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7FAFC"/>
                </a:solidFill>
                <a:latin typeface="Avenir Next"/>
              </a:rPr>
              <a:t>These gaps shape both modeling and evaluation.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621792" y="6483096"/>
            <a:ext cx="10945368" cy="0"/>
          </a:xfrm>
          <a:prstGeom prst="line">
            <a:avLst/>
          </a:prstGeom>
          <a:ln w="8890">
            <a:solidFill>
              <a:srgbClr val="2843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621792" y="6537960"/>
            <a:ext cx="896112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50" b="0" i="0">
                <a:solidFill>
                  <a:srgbClr val="9EB0C3"/>
                </a:solidFill>
                <a:latin typeface="Avenir Next"/>
              </a:rPr>
              <a:t>Sources: data/README.md; submission/WRITEUP.md; submission/model/metrics.json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458200" y="6537960"/>
            <a:ext cx="310896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650" b="0" i="0">
                <a:solidFill>
                  <a:srgbClr val="9EB0C3"/>
                </a:solidFill>
                <a:latin typeface="Avenir Next"/>
              </a:rPr>
              <a:t>github.com/aviadarn/Accentedness-Scoring-Challenge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3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20040"/>
            <a:ext cx="5486400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5FE3D2"/>
                </a:solidFill>
                <a:latin typeface="Avenir Next"/>
              </a:rPr>
              <a:t>PHONE-LEVEL ACCENTEDNESS • TAKE-HOME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704088"/>
            <a:ext cx="10698480" cy="6583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7FAFC"/>
                </a:solidFill>
                <a:latin typeface="Avenir Next"/>
              </a:rPr>
              <a:t>Architecture: align first, then score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329184"/>
            <a:ext cx="438912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EB0C3"/>
                </a:solidFill>
                <a:latin typeface="Avenir Next"/>
              </a:rPr>
              <a:t>04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21792" y="1417320"/>
            <a:ext cx="10945368" cy="0"/>
          </a:xfrm>
          <a:prstGeom prst="line">
            <a:avLst/>
          </a:prstGeom>
          <a:ln w="12700">
            <a:solidFill>
              <a:srgbClr val="2843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603504" y="1874519"/>
            <a:ext cx="1682496" cy="2377440"/>
          </a:xfrm>
          <a:prstGeom prst="roundRect">
            <a:avLst/>
          </a:prstGeom>
          <a:solidFill>
            <a:srgbClr val="12263A"/>
          </a:solidFill>
          <a:ln w="12700">
            <a:solidFill>
              <a:srgbClr val="2843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58952" y="2048256"/>
            <a:ext cx="438912" cy="292608"/>
          </a:xfrm>
          <a:prstGeom prst="roundRect">
            <a:avLst/>
          </a:prstGeom>
          <a:solidFill>
            <a:srgbClr val="5FE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2057400"/>
            <a:ext cx="347472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81321"/>
                </a:solidFill>
                <a:latin typeface="Avenir Next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2660904"/>
            <a:ext cx="1371600" cy="42062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7FAFC"/>
                </a:solidFill>
                <a:latin typeface="Avenir Next"/>
              </a:rPr>
              <a:t>Audio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" y="3255264"/>
            <a:ext cx="1371600" cy="6035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9EB0C3"/>
                </a:solidFill>
                <a:latin typeface="Avenir Next"/>
              </a:rPr>
              <a:t>16 kHz
waveform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286000" y="3054096"/>
            <a:ext cx="155448" cy="0"/>
          </a:xfrm>
          <a:prstGeom prst="line">
            <a:avLst/>
          </a:prstGeom>
          <a:ln w="25400">
            <a:solidFill>
              <a:srgbClr val="5FE3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441448" y="1874519"/>
            <a:ext cx="1682496" cy="2377440"/>
          </a:xfrm>
          <a:prstGeom prst="roundRect">
            <a:avLst/>
          </a:prstGeom>
          <a:solidFill>
            <a:srgbClr val="12263A"/>
          </a:solidFill>
          <a:ln w="12700">
            <a:solidFill>
              <a:srgbClr val="2843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596896" y="2048256"/>
            <a:ext cx="438912" cy="292608"/>
          </a:xfrm>
          <a:prstGeom prst="roundRect">
            <a:avLst/>
          </a:prstGeom>
          <a:solidFill>
            <a:srgbClr val="73B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642616" y="2057400"/>
            <a:ext cx="347472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81321"/>
                </a:solidFill>
                <a:latin typeface="Avenir Next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96896" y="2660904"/>
            <a:ext cx="1371600" cy="42062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7FAFC"/>
                </a:solidFill>
                <a:latin typeface="Avenir Next"/>
              </a:rPr>
              <a:t>Whisper-tiny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96896" y="3255264"/>
            <a:ext cx="1371600" cy="6035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9EB0C3"/>
                </a:solidFill>
                <a:latin typeface="Avenir Next"/>
              </a:rPr>
              <a:t>Frozen 384-d
encoder states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123944" y="3054096"/>
            <a:ext cx="155448" cy="0"/>
          </a:xfrm>
          <a:prstGeom prst="line">
            <a:avLst/>
          </a:prstGeom>
          <a:ln w="25400">
            <a:solidFill>
              <a:srgbClr val="73B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4279392" y="1874519"/>
            <a:ext cx="1682496" cy="2377440"/>
          </a:xfrm>
          <a:prstGeom prst="roundRect">
            <a:avLst/>
          </a:prstGeom>
          <a:solidFill>
            <a:srgbClr val="12263A"/>
          </a:solidFill>
          <a:ln w="12700">
            <a:solidFill>
              <a:srgbClr val="2843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434840" y="2048256"/>
            <a:ext cx="438912" cy="292608"/>
          </a:xfrm>
          <a:prstGeom prst="roundRect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80560" y="2057400"/>
            <a:ext cx="347472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81321"/>
                </a:solidFill>
                <a:latin typeface="Avenir Next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34840" y="2660904"/>
            <a:ext cx="1371600" cy="42062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7FAFC"/>
                </a:solidFill>
                <a:latin typeface="Avenir Next"/>
              </a:rPr>
              <a:t>CTC + Viterbi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34840" y="3255264"/>
            <a:ext cx="1371600" cy="6035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9EB0C3"/>
                </a:solidFill>
                <a:latin typeface="Avenir Next"/>
              </a:rPr>
              <a:t>45-way head;
constrained spans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961888" y="3054096"/>
            <a:ext cx="155448" cy="0"/>
          </a:xfrm>
          <a:prstGeom prst="line">
            <a:avLst/>
          </a:prstGeom>
          <a:ln w="25400">
            <a:solidFill>
              <a:srgbClr val="FFC8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6117336" y="1874519"/>
            <a:ext cx="1682496" cy="2377440"/>
          </a:xfrm>
          <a:prstGeom prst="roundRect">
            <a:avLst/>
          </a:prstGeom>
          <a:solidFill>
            <a:srgbClr val="12263A"/>
          </a:solidFill>
          <a:ln w="12700">
            <a:solidFill>
              <a:srgbClr val="2843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272784" y="2048256"/>
            <a:ext cx="438912" cy="292608"/>
          </a:xfrm>
          <a:prstGeom prst="roundRect">
            <a:avLst/>
          </a:prstGeom>
          <a:solidFill>
            <a:srgbClr val="FF92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18504" y="2057400"/>
            <a:ext cx="347472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81321"/>
                </a:solidFill>
                <a:latin typeface="Avenir Next"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72784" y="2660904"/>
            <a:ext cx="1371600" cy="42062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7FAFC"/>
                </a:solidFill>
                <a:latin typeface="Avenir Next"/>
              </a:rPr>
              <a:t>Phone features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72784" y="3255264"/>
            <a:ext cx="1371600" cy="6035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9EB0C3"/>
                </a:solidFill>
                <a:latin typeface="Avenir Next"/>
              </a:rPr>
              <a:t>mean + std +
4 diagnostics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799832" y="3054096"/>
            <a:ext cx="155448" cy="0"/>
          </a:xfrm>
          <a:prstGeom prst="line">
            <a:avLst/>
          </a:prstGeom>
          <a:ln w="25400">
            <a:solidFill>
              <a:srgbClr val="FF92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7955280" y="1874519"/>
            <a:ext cx="1682496" cy="2377440"/>
          </a:xfrm>
          <a:prstGeom prst="roundRect">
            <a:avLst/>
          </a:prstGeom>
          <a:solidFill>
            <a:srgbClr val="12263A"/>
          </a:solidFill>
          <a:ln w="12700">
            <a:solidFill>
              <a:srgbClr val="2843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8110728" y="2048256"/>
            <a:ext cx="438912" cy="292608"/>
          </a:xfrm>
          <a:prstGeom prst="roundRect">
            <a:avLst/>
          </a:prstGeom>
          <a:solidFill>
            <a:srgbClr val="73B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156448" y="2057400"/>
            <a:ext cx="347472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81321"/>
                </a:solidFill>
                <a:latin typeface="Avenir Next"/>
              </a:rPr>
              <a:t>05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10728" y="2660904"/>
            <a:ext cx="1371600" cy="42062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7FAFC"/>
                </a:solidFill>
                <a:latin typeface="Avenir Next"/>
              </a:rPr>
              <a:t>BiGRU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10728" y="3255264"/>
            <a:ext cx="1371600" cy="6035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9EB0C3"/>
                </a:solidFill>
                <a:latin typeface="Avenir Next"/>
              </a:rPr>
              <a:t>phone embedding;
2 layers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9637776" y="3054096"/>
            <a:ext cx="155448" cy="0"/>
          </a:xfrm>
          <a:prstGeom prst="line">
            <a:avLst/>
          </a:prstGeom>
          <a:ln w="25400">
            <a:solidFill>
              <a:srgbClr val="73B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9793224" y="1874519"/>
            <a:ext cx="1682496" cy="2377440"/>
          </a:xfrm>
          <a:prstGeom prst="roundRect">
            <a:avLst/>
          </a:prstGeom>
          <a:solidFill>
            <a:srgbClr val="12263A"/>
          </a:solidFill>
          <a:ln w="12700">
            <a:solidFill>
              <a:srgbClr val="2843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9948672" y="2048256"/>
            <a:ext cx="438912" cy="292608"/>
          </a:xfrm>
          <a:prstGeom prst="roundRect">
            <a:avLst/>
          </a:prstGeom>
          <a:solidFill>
            <a:srgbClr val="5FE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994392" y="2057400"/>
            <a:ext cx="347472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81321"/>
                </a:solidFill>
                <a:latin typeface="Avenir Next"/>
              </a:rPr>
              <a:t>06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948672" y="2660904"/>
            <a:ext cx="1371600" cy="42062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7FAFC"/>
                </a:solidFill>
                <a:latin typeface="Avenir Next"/>
              </a:rPr>
              <a:t>Ordinal head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948672" y="3255264"/>
            <a:ext cx="1371600" cy="6035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9EB0C3"/>
                </a:solidFill>
                <a:latin typeface="Avenir Next"/>
              </a:rPr>
              <a:t>q₁, q₂ →
score 0–100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58368" y="4645152"/>
            <a:ext cx="10881360" cy="1143000"/>
          </a:xfrm>
          <a:prstGeom prst="roundRect">
            <a:avLst/>
          </a:prstGeom>
          <a:solidFill>
            <a:srgbClr val="0D1C2D"/>
          </a:solidFill>
          <a:ln w="12700">
            <a:solidFill>
              <a:srgbClr val="2843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14400" y="4828032"/>
            <a:ext cx="54864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5FE3D2"/>
                </a:solidFill>
                <a:latin typeface="Avenir Next"/>
              </a:rPr>
              <a:t>9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572768" y="4892040"/>
            <a:ext cx="1444752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7FAFC"/>
                </a:solidFill>
                <a:latin typeface="Avenir Next"/>
              </a:rPr>
              <a:t>CTC epochs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3191256" y="4892040"/>
            <a:ext cx="0" cy="630936"/>
          </a:xfrm>
          <a:prstGeom prst="line">
            <a:avLst/>
          </a:prstGeom>
          <a:ln w="12700">
            <a:solidFill>
              <a:srgbClr val="2843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3547872" y="4828032"/>
            <a:ext cx="54864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73B7FF"/>
                </a:solidFill>
                <a:latin typeface="Avenir Next"/>
              </a:rPr>
              <a:t>18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206240" y="4892040"/>
            <a:ext cx="1444752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7FAFC"/>
                </a:solidFill>
                <a:latin typeface="Avenir Next"/>
              </a:rPr>
              <a:t>scorer epochs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5824728" y="4892040"/>
            <a:ext cx="0" cy="630936"/>
          </a:xfrm>
          <a:prstGeom prst="line">
            <a:avLst/>
          </a:prstGeom>
          <a:ln w="12700">
            <a:solidFill>
              <a:srgbClr val="2843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6181344" y="4828032"/>
            <a:ext cx="54864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A8E063"/>
                </a:solidFill>
                <a:latin typeface="Avenir Next"/>
              </a:rPr>
              <a:t>0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839712" y="4892040"/>
            <a:ext cx="1444752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7FAFC"/>
                </a:solidFill>
                <a:latin typeface="Avenir Next"/>
              </a:rPr>
              <a:t>alignment fallbacks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8458200" y="4892040"/>
            <a:ext cx="0" cy="630936"/>
          </a:xfrm>
          <a:prstGeom prst="line">
            <a:avLst/>
          </a:prstGeom>
          <a:ln w="12700">
            <a:solidFill>
              <a:srgbClr val="2843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8814816" y="4828032"/>
            <a:ext cx="54864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FFC857"/>
                </a:solidFill>
                <a:latin typeface="Avenir Next"/>
              </a:rPr>
              <a:t>42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473184" y="4892040"/>
            <a:ext cx="1444752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7FAFC"/>
                </a:solidFill>
                <a:latin typeface="Avenir Next"/>
              </a:rPr>
              <a:t>random seed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96112" y="5961888"/>
            <a:ext cx="1033272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EB0C3"/>
                </a:solidFill>
                <a:latin typeface="Avenir Next"/>
              </a:rPr>
              <a:t>Training discipline: tune epochs on train-only development data, then restart and fit all 2,799 training utterances.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621792" y="6483096"/>
            <a:ext cx="10945368" cy="0"/>
          </a:xfrm>
          <a:prstGeom prst="line">
            <a:avLst/>
          </a:prstGeom>
          <a:ln w="8890">
            <a:solidFill>
              <a:srgbClr val="2843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>
            <a:off x="621792" y="6537960"/>
            <a:ext cx="896112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50" b="0" i="0">
                <a:solidFill>
                  <a:srgbClr val="9EB0C3"/>
                </a:solidFill>
                <a:latin typeface="Avenir Next"/>
              </a:rPr>
              <a:t>Sources: submission/WRITEUP.md; experiments/E01-production-model/README.md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458200" y="6537960"/>
            <a:ext cx="310896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650" b="0" i="0">
                <a:solidFill>
                  <a:srgbClr val="9EB0C3"/>
                </a:solidFill>
                <a:latin typeface="Avenir Next"/>
              </a:rPr>
              <a:t>github.com/aviadarn/Accentedness-Scoring-Challenge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3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20040"/>
            <a:ext cx="5486400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5FE3D2"/>
                </a:solidFill>
                <a:latin typeface="Avenir Next"/>
              </a:rPr>
              <a:t>PHONE-LEVEL ACCENTEDNESS • TAKE-HOME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704088"/>
            <a:ext cx="10698480" cy="6583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7FAFC"/>
                </a:solidFill>
                <a:latin typeface="Avenir Next"/>
              </a:rPr>
              <a:t>The objective and metrics match the ordering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329184"/>
            <a:ext cx="438912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EB0C3"/>
                </a:solidFill>
                <a:latin typeface="Avenir Next"/>
              </a:rPr>
              <a:t>05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21792" y="1417320"/>
            <a:ext cx="10945368" cy="0"/>
          </a:xfrm>
          <a:prstGeom prst="line">
            <a:avLst/>
          </a:prstGeom>
          <a:ln w="12700">
            <a:solidFill>
              <a:srgbClr val="2843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658368" y="1764792"/>
            <a:ext cx="5257800" cy="4343400"/>
          </a:xfrm>
          <a:prstGeom prst="roundRect">
            <a:avLst/>
          </a:prstGeom>
          <a:solidFill>
            <a:srgbClr val="0D1C2D"/>
          </a:solidFill>
          <a:ln w="12700">
            <a:solidFill>
              <a:srgbClr val="2843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" y="2002536"/>
            <a:ext cx="201168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5FE3D2"/>
                </a:solidFill>
                <a:latin typeface="Avenir Next"/>
              </a:rPr>
              <a:t>ORDINAL REGRESSION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" y="2359152"/>
            <a:ext cx="3291840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F7FAFC"/>
                </a:solidFill>
                <a:latin typeface="Avenir Next"/>
              </a:rPr>
              <a:t>Two ordered questions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008376"/>
            <a:ext cx="201168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73B7FF"/>
                </a:solidFill>
                <a:latin typeface="Menlo"/>
              </a:rPr>
              <a:t>q₁ = P(Y ≥ 1)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01568" y="3008376"/>
            <a:ext cx="201168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5FE3D2"/>
                </a:solidFill>
                <a:latin typeface="Menlo"/>
              </a:rPr>
              <a:t>q₂ = P(Y ≥ 2)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225296" y="3858768"/>
            <a:ext cx="4096512" cy="0"/>
          </a:xfrm>
          <a:prstGeom prst="line">
            <a:avLst/>
          </a:prstGeom>
          <a:ln w="38100">
            <a:solidFill>
              <a:srgbClr val="2843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1115568" y="3749039"/>
            <a:ext cx="219456" cy="219456"/>
          </a:xfrm>
          <a:prstGeom prst="ellipse">
            <a:avLst/>
          </a:prstGeom>
          <a:solidFill>
            <a:srgbClr val="FF92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14984" y="4096512"/>
            <a:ext cx="420624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9274"/>
                </a:solidFill>
                <a:latin typeface="Avenir Next"/>
              </a:rPr>
              <a:t>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4425696"/>
            <a:ext cx="1133856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9EB0C3"/>
                </a:solidFill>
                <a:latin typeface="Avenir Next"/>
              </a:rPr>
              <a:t>heavy</a:t>
            </a:r>
          </a:p>
        </p:txBody>
      </p:sp>
      <p:sp>
        <p:nvSpPr>
          <p:cNvPr id="15" name="Oval 14"/>
          <p:cNvSpPr/>
          <p:nvPr/>
        </p:nvSpPr>
        <p:spPr>
          <a:xfrm>
            <a:off x="3163824" y="3749039"/>
            <a:ext cx="219456" cy="219456"/>
          </a:xfrm>
          <a:prstGeom prst="ellipse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063240" y="4096512"/>
            <a:ext cx="420624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C857"/>
                </a:solidFill>
                <a:latin typeface="Avenir Next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06624" y="4425696"/>
            <a:ext cx="1133856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9EB0C3"/>
                </a:solidFill>
                <a:latin typeface="Avenir Next"/>
              </a:rPr>
              <a:t>understandable</a:t>
            </a:r>
          </a:p>
        </p:txBody>
      </p:sp>
      <p:sp>
        <p:nvSpPr>
          <p:cNvPr id="18" name="Oval 17"/>
          <p:cNvSpPr/>
          <p:nvPr/>
        </p:nvSpPr>
        <p:spPr>
          <a:xfrm>
            <a:off x="5212080" y="3749039"/>
            <a:ext cx="219456" cy="219456"/>
          </a:xfrm>
          <a:prstGeom prst="ellipse">
            <a:avLst/>
          </a:prstGeom>
          <a:solidFill>
            <a:srgbClr val="5FE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11496" y="4096512"/>
            <a:ext cx="420624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5FE3D2"/>
                </a:solidFill>
                <a:latin typeface="Avenir Next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54880" y="4425696"/>
            <a:ext cx="1133856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9EB0C3"/>
                </a:solidFill>
                <a:latin typeface="Avenir Next"/>
              </a:rPr>
              <a:t>native-like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50976" y="4974336"/>
            <a:ext cx="4663440" cy="713232"/>
          </a:xfrm>
          <a:prstGeom prst="roundRect">
            <a:avLst/>
          </a:prstGeom>
          <a:solidFill>
            <a:srgbClr val="12263A"/>
          </a:solidFill>
          <a:ln w="12700">
            <a:solidFill>
              <a:srgbClr val="5FE3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88720" y="5184648"/>
            <a:ext cx="4187952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7FAFC"/>
                </a:solidFill>
                <a:latin typeface="Menlo"/>
              </a:rPr>
              <a:t>score = 50 × (q₁ + q₂)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27648" y="2002536"/>
            <a:ext cx="164592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73B7FF"/>
                </a:solidFill>
                <a:latin typeface="Avenir Next"/>
              </a:rPr>
              <a:t>EVALUATION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27648" y="2359152"/>
            <a:ext cx="274320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F7FAFC"/>
                </a:solidFill>
                <a:latin typeface="Avenir Next"/>
              </a:rPr>
              <a:t>Balanced MAE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56648" y="2414016"/>
            <a:ext cx="1078992" cy="2103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5FE3D2"/>
                </a:solidFill>
                <a:latin typeface="Avenir Next"/>
              </a:rPr>
              <a:t>Primary metric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27648" y="2843784"/>
            <a:ext cx="4690872" cy="5943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EB0C3"/>
                </a:solidFill>
                <a:latin typeface="Avenir Next"/>
              </a:rPr>
              <a:t>Compute MAE within each true label, then average the three class errors equally.</a:t>
            </a:r>
          </a:p>
        </p:txBody>
      </p:sp>
      <p:sp>
        <p:nvSpPr>
          <p:cNvPr id="27" name="Oval 26"/>
          <p:cNvSpPr/>
          <p:nvPr/>
        </p:nvSpPr>
        <p:spPr>
          <a:xfrm>
            <a:off x="6327648" y="3685032"/>
            <a:ext cx="91440" cy="91440"/>
          </a:xfrm>
          <a:prstGeom prst="ellipse">
            <a:avLst/>
          </a:prstGeom>
          <a:solidFill>
            <a:srgbClr val="5FE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10528" y="3575304"/>
            <a:ext cx="4297680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7FAFC"/>
                </a:solidFill>
                <a:latin typeface="Avenir Next"/>
              </a:rPr>
              <a:t>Preserves continuous error magnitude</a:t>
            </a:r>
          </a:p>
        </p:txBody>
      </p:sp>
      <p:sp>
        <p:nvSpPr>
          <p:cNvPr id="29" name="Oval 28"/>
          <p:cNvSpPr/>
          <p:nvPr/>
        </p:nvSpPr>
        <p:spPr>
          <a:xfrm>
            <a:off x="6327648" y="4169664"/>
            <a:ext cx="91440" cy="91440"/>
          </a:xfrm>
          <a:prstGeom prst="ellipse">
            <a:avLst/>
          </a:prstGeom>
          <a:solidFill>
            <a:srgbClr val="5FE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10528" y="4059936"/>
            <a:ext cx="4297680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7FAFC"/>
                </a:solidFill>
                <a:latin typeface="Avenir Next"/>
              </a:rPr>
              <a:t>Stops the 80% majority class dominating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27648" y="4636008"/>
            <a:ext cx="21031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7FAFC"/>
                </a:solidFill>
                <a:latin typeface="Avenir Next"/>
              </a:rPr>
              <a:t>Secondary checks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327648" y="5020056"/>
            <a:ext cx="694944" cy="292608"/>
          </a:xfrm>
          <a:prstGeom prst="roundRect">
            <a:avLst/>
          </a:prstGeom>
          <a:solidFill>
            <a:srgbClr val="173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73368" y="5029200"/>
            <a:ext cx="603504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73B7FF"/>
                </a:solidFill>
                <a:latin typeface="Avenir Next"/>
              </a:rPr>
              <a:t>QWK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150608" y="5020056"/>
            <a:ext cx="1078992" cy="292608"/>
          </a:xfrm>
          <a:prstGeom prst="roundRect">
            <a:avLst/>
          </a:prstGeom>
          <a:solidFill>
            <a:srgbClr val="173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196328" y="5029200"/>
            <a:ext cx="987551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C857"/>
                </a:solidFill>
                <a:latin typeface="Avenir Next"/>
              </a:rPr>
              <a:t>MACRO-F1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357616" y="5020056"/>
            <a:ext cx="1408176" cy="292608"/>
          </a:xfrm>
          <a:prstGeom prst="roundRect">
            <a:avLst/>
          </a:prstGeom>
          <a:solidFill>
            <a:srgbClr val="173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403336" y="5029200"/>
            <a:ext cx="1316736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9274"/>
                </a:solidFill>
                <a:latin typeface="Avenir Next"/>
              </a:rPr>
              <a:t>BALANCED ACC.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893808" y="5020056"/>
            <a:ext cx="1060704" cy="292608"/>
          </a:xfrm>
          <a:prstGeom prst="roundRect">
            <a:avLst/>
          </a:prstGeom>
          <a:solidFill>
            <a:srgbClr val="173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939528" y="5029200"/>
            <a:ext cx="969263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5FE3D2"/>
                </a:solidFill>
                <a:latin typeface="Avenir Next"/>
              </a:rPr>
              <a:t>SPEARMAN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327648" y="5559552"/>
            <a:ext cx="4626864" cy="502920"/>
          </a:xfrm>
          <a:prstGeom prst="roundRect">
            <a:avLst/>
          </a:prstGeom>
          <a:solidFill>
            <a:srgbClr val="173047"/>
          </a:solidFill>
          <a:ln w="12700">
            <a:solidFill>
              <a:srgbClr val="2843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519672" y="5705856"/>
            <a:ext cx="425196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7FAFC"/>
                </a:solidFill>
                <a:latin typeface="Avenir Next"/>
              </a:rPr>
              <a:t>Loss weighting: inverse √ class frequency per phone token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621792" y="6483096"/>
            <a:ext cx="10945368" cy="0"/>
          </a:xfrm>
          <a:prstGeom prst="line">
            <a:avLst/>
          </a:prstGeom>
          <a:ln w="8890">
            <a:solidFill>
              <a:srgbClr val="2843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621792" y="6537960"/>
            <a:ext cx="896112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50" b="0" i="0">
                <a:solidFill>
                  <a:srgbClr val="9EB0C3"/>
                </a:solidFill>
                <a:latin typeface="Avenir Next"/>
              </a:rPr>
              <a:t>Sources: submission/WRITEUP.md; submission/accent_score/metrics.py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458200" y="6537960"/>
            <a:ext cx="310896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650" b="0" i="0">
                <a:solidFill>
                  <a:srgbClr val="9EB0C3"/>
                </a:solidFill>
                <a:latin typeface="Avenir Next"/>
              </a:rPr>
              <a:t>github.com/aviadarn/Accentedness-Scoring-Challenge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3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20040"/>
            <a:ext cx="5486400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5FE3D2"/>
                </a:solidFill>
                <a:latin typeface="Avenir Next"/>
              </a:rPr>
              <a:t>PHONE-LEVEL ACCENTEDNESS • TAKE-HOME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704088"/>
            <a:ext cx="10698480" cy="6583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7FAFC"/>
                </a:solidFill>
                <a:latin typeface="Avenir Next"/>
              </a:rPr>
              <a:t>Validation: audio adds material signal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329184"/>
            <a:ext cx="438912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EB0C3"/>
                </a:solidFill>
                <a:latin typeface="Avenir Next"/>
              </a:rPr>
              <a:t>06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21792" y="1417320"/>
            <a:ext cx="10945368" cy="0"/>
          </a:xfrm>
          <a:prstGeom prst="line">
            <a:avLst/>
          </a:prstGeom>
          <a:ln w="12700">
            <a:solidFill>
              <a:srgbClr val="2843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49808" y="1728216"/>
            <a:ext cx="388620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EB0C3"/>
                </a:solidFill>
                <a:latin typeface="Avenir Next"/>
              </a:rPr>
              <a:t>BALANCED MAE • LOWER IS BETTER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340864"/>
            <a:ext cx="1133856" cy="2103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F7FAFC"/>
                </a:solidFill>
                <a:latin typeface="Avenir Next"/>
              </a:rPr>
              <a:t>Always 100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993392" y="2240280"/>
            <a:ext cx="3749039" cy="420624"/>
          </a:xfrm>
          <a:prstGeom prst="roundRect">
            <a:avLst/>
          </a:prstGeom>
          <a:solidFill>
            <a:srgbClr val="12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993392" y="2240280"/>
            <a:ext cx="3749039" cy="420624"/>
          </a:xfrm>
          <a:prstGeom prst="roundRect">
            <a:avLst/>
          </a:prstGeom>
          <a:solidFill>
            <a:srgbClr val="9EB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97879" y="2304288"/>
            <a:ext cx="64008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9EB0C3"/>
                </a:solidFill>
                <a:latin typeface="Avenir Next"/>
              </a:rPr>
              <a:t>50.00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054096"/>
            <a:ext cx="1133856" cy="2103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F7FAFC"/>
                </a:solidFill>
                <a:latin typeface="Avenir Next"/>
              </a:rPr>
              <a:t>Strongest static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993392" y="2953512"/>
            <a:ext cx="3749039" cy="420624"/>
          </a:xfrm>
          <a:prstGeom prst="roundRect">
            <a:avLst/>
          </a:prstGeom>
          <a:solidFill>
            <a:srgbClr val="12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993392" y="2953512"/>
            <a:ext cx="2430127" cy="420624"/>
          </a:xfrm>
          <a:prstGeom prst="roundRect">
            <a:avLst/>
          </a:prstGeom>
          <a:solidFill>
            <a:srgbClr val="FF92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897879" y="3017520"/>
            <a:ext cx="64008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9274"/>
                </a:solidFill>
                <a:latin typeface="Avenir Next"/>
              </a:rPr>
              <a:t>32.41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767328"/>
            <a:ext cx="1133856" cy="2103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F7FAFC"/>
                </a:solidFill>
                <a:latin typeface="Avenir Next"/>
              </a:rPr>
              <a:t>Sequence only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993392" y="3666744"/>
            <a:ext cx="3749039" cy="420624"/>
          </a:xfrm>
          <a:prstGeom prst="roundRect">
            <a:avLst/>
          </a:prstGeom>
          <a:solidFill>
            <a:srgbClr val="12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993392" y="3666744"/>
            <a:ext cx="2401635" cy="420624"/>
          </a:xfrm>
          <a:prstGeom prst="roundRect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897879" y="3730752"/>
            <a:ext cx="64008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C857"/>
                </a:solidFill>
                <a:latin typeface="Avenir Next"/>
              </a:rPr>
              <a:t>32.03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480560"/>
            <a:ext cx="1133856" cy="2103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7FAFC"/>
                </a:solidFill>
                <a:latin typeface="Avenir Next"/>
              </a:rPr>
              <a:t>Selected acoustic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993392" y="4379976"/>
            <a:ext cx="3749039" cy="420624"/>
          </a:xfrm>
          <a:prstGeom prst="roundRect">
            <a:avLst/>
          </a:prstGeom>
          <a:solidFill>
            <a:srgbClr val="12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1993392" y="4379976"/>
            <a:ext cx="1692316" cy="420624"/>
          </a:xfrm>
          <a:prstGeom prst="roundRect">
            <a:avLst/>
          </a:prstGeom>
          <a:solidFill>
            <a:srgbClr val="5FE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897879" y="4443984"/>
            <a:ext cx="64008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5FE3D2"/>
                </a:solidFill>
                <a:latin typeface="Avenir Next"/>
              </a:rPr>
              <a:t>22.57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5330952"/>
            <a:ext cx="5303520" cy="603504"/>
          </a:xfrm>
          <a:prstGeom prst="roundRect">
            <a:avLst/>
          </a:prstGeom>
          <a:solidFill>
            <a:srgbClr val="173047"/>
          </a:solidFill>
          <a:ln w="12700">
            <a:solidFill>
              <a:srgbClr val="5FE3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41832" y="5468112"/>
            <a:ext cx="950976" cy="28346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5FE3D2"/>
                </a:solidFill>
                <a:latin typeface="Avenir Next"/>
              </a:rPr>
              <a:t>−9.454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75104" y="5486400"/>
            <a:ext cx="2505456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7FAFC"/>
                </a:solidFill>
                <a:latin typeface="Avenir Next"/>
              </a:rPr>
              <a:t>balanced-MAE points vs sequence-only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33087" y="5504688"/>
            <a:ext cx="1664208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9EB0C3"/>
                </a:solidFill>
                <a:latin typeface="Avenir Next"/>
              </a:rPr>
              <a:t>95% CI [−10.556, −8.282]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46520" y="1810512"/>
            <a:ext cx="2157984" cy="1005840"/>
          </a:xfrm>
          <a:prstGeom prst="roundRect">
            <a:avLst/>
          </a:prstGeom>
          <a:solidFill>
            <a:srgbClr val="12263A"/>
          </a:solidFill>
          <a:ln w="12700">
            <a:solidFill>
              <a:srgbClr val="2843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11112" y="1947672"/>
            <a:ext cx="1828800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73B7FF"/>
                </a:solidFill>
                <a:latin typeface="Avenir Next"/>
              </a:rPr>
              <a:t>17.92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11112" y="2450591"/>
            <a:ext cx="182880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9EB0C3"/>
                </a:solidFill>
                <a:latin typeface="Avenir Next"/>
              </a:rPr>
              <a:t>OVERALL MAE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851392" y="1810512"/>
            <a:ext cx="2157984" cy="1005840"/>
          </a:xfrm>
          <a:prstGeom prst="roundRect">
            <a:avLst/>
          </a:prstGeom>
          <a:solidFill>
            <a:srgbClr val="12263A"/>
          </a:solidFill>
          <a:ln w="12700">
            <a:solidFill>
              <a:srgbClr val="2843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015984" y="1947672"/>
            <a:ext cx="1828800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5FE3D2"/>
                </a:solidFill>
                <a:latin typeface="Avenir Next"/>
              </a:rPr>
              <a:t>0.584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15984" y="2450591"/>
            <a:ext cx="182880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9EB0C3"/>
                </a:solidFill>
                <a:latin typeface="Avenir Next"/>
              </a:rPr>
              <a:t>QUADRATIC-WEIGHTED KAPPA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46520" y="3072384"/>
            <a:ext cx="2157984" cy="1005840"/>
          </a:xfrm>
          <a:prstGeom prst="roundRect">
            <a:avLst/>
          </a:prstGeom>
          <a:solidFill>
            <a:srgbClr val="12263A"/>
          </a:solidFill>
          <a:ln w="12700">
            <a:solidFill>
              <a:srgbClr val="2843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11112" y="3209544"/>
            <a:ext cx="1828800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FFC857"/>
                </a:solidFill>
                <a:latin typeface="Avenir Next"/>
              </a:rPr>
              <a:t>0.565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11112" y="3712463"/>
            <a:ext cx="182880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9EB0C3"/>
                </a:solidFill>
                <a:latin typeface="Avenir Next"/>
              </a:rPr>
              <a:t>MACRO-F1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851392" y="3072384"/>
            <a:ext cx="2157984" cy="1005840"/>
          </a:xfrm>
          <a:prstGeom prst="roundRect">
            <a:avLst/>
          </a:prstGeom>
          <a:solidFill>
            <a:srgbClr val="12263A"/>
          </a:solidFill>
          <a:ln w="12700">
            <a:solidFill>
              <a:srgbClr val="2843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015984" y="3209544"/>
            <a:ext cx="1828800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FF9274"/>
                </a:solidFill>
                <a:latin typeface="Avenir Next"/>
              </a:rPr>
              <a:t>0.551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15984" y="3712463"/>
            <a:ext cx="182880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9EB0C3"/>
                </a:solidFill>
                <a:latin typeface="Avenir Next"/>
              </a:rPr>
              <a:t>SPEARMAN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446520" y="4370832"/>
            <a:ext cx="4562856" cy="1143000"/>
          </a:xfrm>
          <a:prstGeom prst="roundRect">
            <a:avLst/>
          </a:prstGeom>
          <a:solidFill>
            <a:srgbClr val="0D1C2D"/>
          </a:solidFill>
          <a:ln w="12700">
            <a:solidFill>
              <a:srgbClr val="2843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675120" y="4590288"/>
            <a:ext cx="2286000" cy="28346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7FAFC"/>
                </a:solidFill>
                <a:latin typeface="Avenir Next"/>
              </a:rPr>
              <a:t>2,996 validation phones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675120" y="5029200"/>
            <a:ext cx="4041648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9EB0C3"/>
                </a:solidFill>
                <a:latin typeface="Avenir Next"/>
              </a:rPr>
              <a:t>10,000-draw utterance-bootstrap CI: 21.42–23.80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446520" y="5687568"/>
            <a:ext cx="4562856" cy="438912"/>
          </a:xfrm>
          <a:prstGeom prst="roundRect">
            <a:avLst/>
          </a:prstGeom>
          <a:solidFill>
            <a:srgbClr val="173047"/>
          </a:solidFill>
          <a:ln w="12700">
            <a:solidFill>
              <a:srgbClr val="FF92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629400" y="5797296"/>
            <a:ext cx="4206240" cy="19202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9274"/>
                </a:solidFill>
                <a:latin typeface="Avenir Next"/>
              </a:rPr>
              <a:t>Important: this split is overlap-heavy—not new-speaker evidence.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621792" y="6483096"/>
            <a:ext cx="10945368" cy="0"/>
          </a:xfrm>
          <a:prstGeom prst="line">
            <a:avLst/>
          </a:prstGeom>
          <a:ln w="8890">
            <a:solidFill>
              <a:srgbClr val="2843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621792" y="6537960"/>
            <a:ext cx="896112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50" b="0" i="0">
                <a:solidFill>
                  <a:srgbClr val="9EB0C3"/>
                </a:solidFill>
                <a:latin typeface="Avenir Next"/>
              </a:rPr>
              <a:t>Sources: submission/model/metrics.json; submission/WRITEUP.md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458200" y="6537960"/>
            <a:ext cx="310896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650" b="0" i="0">
                <a:solidFill>
                  <a:srgbClr val="9EB0C3"/>
                </a:solidFill>
                <a:latin typeface="Avenir Next"/>
              </a:rPr>
              <a:t>github.com/aviadarn/Accentedness-Scoring-Challenge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3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20040"/>
            <a:ext cx="5486400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5FE3D2"/>
                </a:solidFill>
                <a:latin typeface="Avenir Next"/>
              </a:rPr>
              <a:t>PHONE-LEVEL ACCENTEDNESS • TAKE-HOME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704088"/>
            <a:ext cx="10698480" cy="6583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7FAFC"/>
                </a:solidFill>
                <a:latin typeface="Avenir Next"/>
              </a:rPr>
              <a:t>What I tried—and deliberately did not ship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329184"/>
            <a:ext cx="438912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EB0C3"/>
                </a:solidFill>
                <a:latin typeface="Avenir Next"/>
              </a:rPr>
              <a:t>07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21792" y="1417320"/>
            <a:ext cx="10945368" cy="0"/>
          </a:xfrm>
          <a:prstGeom prst="line">
            <a:avLst/>
          </a:prstGeom>
          <a:ln w="12700">
            <a:solidFill>
              <a:srgbClr val="2843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658368" y="1764792"/>
            <a:ext cx="3410712" cy="3063240"/>
          </a:xfrm>
          <a:prstGeom prst="roundRect">
            <a:avLst/>
          </a:prstGeom>
          <a:solidFill>
            <a:srgbClr val="12263A"/>
          </a:solidFill>
          <a:ln w="12700">
            <a:solidFill>
              <a:srgbClr val="2843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41247" y="1965960"/>
            <a:ext cx="896112" cy="292608"/>
          </a:xfrm>
          <a:prstGeom prst="roundRect">
            <a:avLst/>
          </a:prstGeom>
          <a:solidFill>
            <a:srgbClr val="73B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1975103"/>
            <a:ext cx="804672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081321"/>
                </a:solidFill>
                <a:latin typeface="Avenir Next"/>
              </a:rPr>
              <a:t>REJECTED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2496312"/>
            <a:ext cx="3044952" cy="51206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7FAFC"/>
                </a:solidFill>
                <a:latin typeface="Avenir Next"/>
              </a:rPr>
              <a:t>Bigger encoder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3172968"/>
            <a:ext cx="3044952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73B7FF"/>
                </a:solidFill>
                <a:latin typeface="Avenir Next"/>
              </a:rPr>
              <a:t>25.60 vs 22.57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3758184"/>
            <a:ext cx="3044952" cy="7498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9EB0C3"/>
                </a:solidFill>
                <a:latin typeface="Avenir Next"/>
              </a:rPr>
              <a:t>Whisper-small worsened balanced MAE; no small-specific hyperparameter retuning was run.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764792"/>
            <a:ext cx="3410712" cy="3063240"/>
          </a:xfrm>
          <a:prstGeom prst="roundRect">
            <a:avLst/>
          </a:prstGeom>
          <a:solidFill>
            <a:srgbClr val="12263A"/>
          </a:solidFill>
          <a:ln w="12700">
            <a:solidFill>
              <a:srgbClr val="2843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572000" y="1965960"/>
            <a:ext cx="896112" cy="292608"/>
          </a:xfrm>
          <a:prstGeom prst="roundRect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17720" y="1975103"/>
            <a:ext cx="804672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081321"/>
                </a:solidFill>
                <a:latin typeface="Avenir Next"/>
              </a:rPr>
              <a:t>REJECTED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2496312"/>
            <a:ext cx="3044952" cy="51206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7FAFC"/>
                </a:solidFill>
                <a:latin typeface="Avenir Next"/>
              </a:rPr>
              <a:t>Auxiliary labels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3172968"/>
            <a:ext cx="3044952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FC857"/>
                </a:solidFill>
                <a:latin typeface="Avenir Next"/>
              </a:rPr>
              <a:t>+0.039 BM delta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3758184"/>
            <a:ext cx="3044952" cy="7498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9EB0C3"/>
                </a:solidFill>
                <a:latin typeface="Avenir Next"/>
              </a:rPr>
              <a:t>Severity and cluster targets produced no reliable gain; class-0 MAE worsened.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19872" y="1764792"/>
            <a:ext cx="3410712" cy="3063240"/>
          </a:xfrm>
          <a:prstGeom prst="roundRect">
            <a:avLst/>
          </a:prstGeom>
          <a:solidFill>
            <a:srgbClr val="12263A"/>
          </a:solidFill>
          <a:ln w="12700">
            <a:solidFill>
              <a:srgbClr val="2843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302752" y="1965960"/>
            <a:ext cx="896112" cy="292608"/>
          </a:xfrm>
          <a:prstGeom prst="roundRect">
            <a:avLst/>
          </a:prstGeom>
          <a:solidFill>
            <a:srgbClr val="FF92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48472" y="1975103"/>
            <a:ext cx="804672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081321"/>
                </a:solidFill>
                <a:latin typeface="Avenir Next"/>
              </a:rPr>
              <a:t>REJECTED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02752" y="2496312"/>
            <a:ext cx="3044952" cy="51206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7FAFC"/>
                </a:solidFill>
                <a:latin typeface="Avenir Next"/>
              </a:rPr>
              <a:t>Full inverse weights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02752" y="3172968"/>
            <a:ext cx="3044952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F9274"/>
                </a:solidFill>
                <a:latin typeface="Avenir Next"/>
              </a:rPr>
              <a:t>BM −2.02 • MAE +3.86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02752" y="3758184"/>
            <a:ext cx="3044952" cy="7498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9EB0C3"/>
                </a:solidFill>
                <a:latin typeface="Avenir Next"/>
              </a:rPr>
              <a:t>Rare-class recall improved, but QWK, macro-F1, majority recall, and calibration regressed.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8368" y="5157216"/>
            <a:ext cx="10872216" cy="841248"/>
          </a:xfrm>
          <a:prstGeom prst="roundRect">
            <a:avLst/>
          </a:prstGeom>
          <a:solidFill>
            <a:srgbClr val="173047"/>
          </a:solidFill>
          <a:ln w="16510">
            <a:solidFill>
              <a:srgbClr val="5FE3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96112" y="5422392"/>
            <a:ext cx="859536" cy="292608"/>
          </a:xfrm>
          <a:prstGeom prst="roundRect">
            <a:avLst/>
          </a:prstGeom>
          <a:solidFill>
            <a:srgbClr val="5FE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41832" y="5431536"/>
            <a:ext cx="768096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081321"/>
                </a:solidFill>
                <a:latin typeface="Avenir Next"/>
              </a:rPr>
              <a:t>SELECTED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11680" y="5330952"/>
            <a:ext cx="7827264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7FAFC"/>
                </a:solidFill>
                <a:latin typeface="Avenir Next"/>
              </a:rPr>
              <a:t>Frozen Whisper-tiny + constrained CTC + inverse-√ weighted ordinal head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011680" y="5687568"/>
            <a:ext cx="7827264" cy="19202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9EB0C3"/>
                </a:solidFill>
                <a:latin typeface="Avenir Next"/>
              </a:rPr>
              <a:t>The simplest controlled candidate had the best overall trade-off.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" y="6172200"/>
            <a:ext cx="10872216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 i="1">
                <a:solidFill>
                  <a:srgbClr val="9EB0C3"/>
                </a:solidFill>
                <a:latin typeface="Avenir Next"/>
              </a:rPr>
              <a:t>Each result comes from its documented protocol; this is not a single shared leaderboard.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621792" y="6483096"/>
            <a:ext cx="10945368" cy="0"/>
          </a:xfrm>
          <a:prstGeom prst="line">
            <a:avLst/>
          </a:prstGeom>
          <a:ln w="8890">
            <a:solidFill>
              <a:srgbClr val="2843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621792" y="6537960"/>
            <a:ext cx="896112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50" b="0" i="0">
                <a:solidFill>
                  <a:srgbClr val="9EB0C3"/>
                </a:solidFill>
                <a:latin typeface="Avenir Next"/>
              </a:rPr>
              <a:t>Sources: experiments/E02-whisper-small; E05-auxiliary-labels; E06-scorer-objectives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58200" y="6537960"/>
            <a:ext cx="310896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650" b="0" i="0">
                <a:solidFill>
                  <a:srgbClr val="9EB0C3"/>
                </a:solidFill>
                <a:latin typeface="Avenir Next"/>
              </a:rPr>
              <a:t>github.com/aviadarn/Accentedness-Scoring-Challenge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3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20040"/>
            <a:ext cx="5486400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5FE3D2"/>
                </a:solidFill>
                <a:latin typeface="Avenir Next"/>
              </a:rPr>
              <a:t>PHONE-LEVEL ACCENTEDNESS • TAKE-HOME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704088"/>
            <a:ext cx="10698480" cy="6583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7FAFC"/>
                </a:solidFill>
                <a:latin typeface="Avenir Next"/>
              </a:rPr>
              <a:t>The largest risk is the validation split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329184"/>
            <a:ext cx="438912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EB0C3"/>
                </a:solidFill>
                <a:latin typeface="Avenir Next"/>
              </a:rPr>
              <a:t>08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21792" y="1417320"/>
            <a:ext cx="10945368" cy="0"/>
          </a:xfrm>
          <a:prstGeom prst="line">
            <a:avLst/>
          </a:prstGeom>
          <a:ln w="12700">
            <a:solidFill>
              <a:srgbClr val="2843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58952" y="1755648"/>
            <a:ext cx="2331720" cy="2103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EB0C3"/>
                </a:solidFill>
                <a:latin typeface="Avenir Next"/>
              </a:rPr>
              <a:t>PSEUDO-SPEAKER OVERLAP</a:t>
            </a:r>
          </a:p>
        </p:txBody>
      </p:sp>
      <p:sp>
        <p:nvSpPr>
          <p:cNvPr id="7" name="Oval 6"/>
          <p:cNvSpPr/>
          <p:nvPr/>
        </p:nvSpPr>
        <p:spPr>
          <a:xfrm>
            <a:off x="896112" y="2194560"/>
            <a:ext cx="2999232" cy="2999232"/>
          </a:xfrm>
          <a:prstGeom prst="ellipse">
            <a:avLst/>
          </a:prstGeom>
          <a:noFill/>
          <a:ln w="30480">
            <a:solidFill>
              <a:srgbClr val="73B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743200" y="2194560"/>
            <a:ext cx="2999232" cy="2999232"/>
          </a:xfrm>
          <a:prstGeom prst="ellipse">
            <a:avLst/>
          </a:prstGeom>
          <a:noFill/>
          <a:ln w="30480">
            <a:solidFill>
              <a:srgbClr val="5FE3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07592" y="2505456"/>
            <a:ext cx="1115568" cy="28346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73B7FF"/>
                </a:solidFill>
                <a:latin typeface="Avenir Next"/>
              </a:rPr>
              <a:t>train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24528" y="2505456"/>
            <a:ext cx="1115568" cy="28346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5FE3D2"/>
                </a:solidFill>
                <a:latin typeface="Avenir Next"/>
              </a:rPr>
              <a:t>validation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148840" y="3172968"/>
            <a:ext cx="2286000" cy="1170432"/>
          </a:xfrm>
          <a:prstGeom prst="roundRect">
            <a:avLst/>
          </a:prstGeom>
          <a:solidFill>
            <a:srgbClr val="173047"/>
          </a:solidFill>
          <a:ln w="19050">
            <a:solidFill>
              <a:srgbClr val="FF92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322576" y="3346704"/>
            <a:ext cx="1938528" cy="3931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9274"/>
                </a:solidFill>
                <a:latin typeface="Avenir Next"/>
              </a:rPr>
              <a:t>97 / 100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22576" y="3822191"/>
            <a:ext cx="1938528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F7FAFC"/>
                </a:solidFill>
                <a:latin typeface="Avenir Next"/>
              </a:rPr>
              <a:t>validation recordings overlap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81912" y="5449824"/>
            <a:ext cx="34747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7FAFC"/>
                </a:solidFill>
                <a:latin typeface="Avenir Next"/>
              </a:rPr>
              <a:t>98.0% of validation phones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81912" y="5760720"/>
            <a:ext cx="347472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EB0C3"/>
                </a:solidFill>
                <a:latin typeface="Avenir Next"/>
              </a:rPr>
              <a:t>sit inside those inferred voice clusters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37376" y="1764792"/>
            <a:ext cx="4727448" cy="4343400"/>
          </a:xfrm>
          <a:prstGeom prst="roundRect">
            <a:avLst/>
          </a:prstGeom>
          <a:solidFill>
            <a:srgbClr val="0D1C2D"/>
          </a:solidFill>
          <a:ln w="12700">
            <a:solidFill>
              <a:srgbClr val="2843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48272" y="2075688"/>
            <a:ext cx="301752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F7FAFC"/>
                </a:solidFill>
                <a:latin typeface="Avenir Next"/>
              </a:rPr>
              <a:t>What this changes</a:t>
            </a:r>
          </a:p>
        </p:txBody>
      </p:sp>
      <p:sp>
        <p:nvSpPr>
          <p:cNvPr id="18" name="Oval 17"/>
          <p:cNvSpPr/>
          <p:nvPr/>
        </p:nvSpPr>
        <p:spPr>
          <a:xfrm>
            <a:off x="6766560" y="2880360"/>
            <a:ext cx="91440" cy="91440"/>
          </a:xfrm>
          <a:prstGeom prst="ellipse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49440" y="2770632"/>
            <a:ext cx="3858768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7FAFC"/>
                </a:solidFill>
                <a:latin typeface="Avenir Next"/>
              </a:rPr>
              <a:t>92 / 100 validation prompts also appear in training.</a:t>
            </a:r>
          </a:p>
        </p:txBody>
      </p:sp>
      <p:sp>
        <p:nvSpPr>
          <p:cNvPr id="20" name="Oval 19"/>
          <p:cNvSpPr/>
          <p:nvPr/>
        </p:nvSpPr>
        <p:spPr>
          <a:xfrm>
            <a:off x="6766560" y="3639312"/>
            <a:ext cx="91440" cy="91440"/>
          </a:xfrm>
          <a:prstGeom prst="ellipse">
            <a:avLst/>
          </a:prstGeom>
          <a:solidFill>
            <a:srgbClr val="FF92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49440" y="3529584"/>
            <a:ext cx="3858768" cy="7132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7FAFC"/>
                </a:solidFill>
                <a:latin typeface="Avenir Next"/>
              </a:rPr>
              <a:t>Reported metrics describe a partly seen-speaker / seen-prompt distribution.</a:t>
            </a:r>
          </a:p>
        </p:txBody>
      </p:sp>
      <p:sp>
        <p:nvSpPr>
          <p:cNvPr id="22" name="Oval 21"/>
          <p:cNvSpPr/>
          <p:nvPr/>
        </p:nvSpPr>
        <p:spPr>
          <a:xfrm>
            <a:off x="6766560" y="4608576"/>
            <a:ext cx="91440" cy="91440"/>
          </a:xfrm>
          <a:prstGeom prst="ellipse">
            <a:avLst/>
          </a:prstGeom>
          <a:solidFill>
            <a:srgbClr val="5FE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49440" y="4498848"/>
            <a:ext cx="3858768" cy="7132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7FAFC"/>
                </a:solidFill>
                <a:latin typeface="Avenir Next"/>
              </a:rPr>
              <a:t>A speaker-disjoint benchmark is required before making generalization claims.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748272" y="5477256"/>
            <a:ext cx="4096512" cy="365760"/>
          </a:xfrm>
          <a:prstGeom prst="roundRect">
            <a:avLst/>
          </a:prstGeom>
          <a:solidFill>
            <a:srgbClr val="12263A"/>
          </a:solidFill>
          <a:ln w="12700">
            <a:solidFill>
              <a:srgbClr val="2843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12864" y="5568696"/>
            <a:ext cx="3767328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0" i="1">
                <a:solidFill>
                  <a:srgbClr val="9EB0C3"/>
                </a:solidFill>
                <a:latin typeface="Avenir Next"/>
              </a:rPr>
              <a:t>WavLM clusters are inferred voices—not verified identities.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21792" y="6483096"/>
            <a:ext cx="10945368" cy="0"/>
          </a:xfrm>
          <a:prstGeom prst="line">
            <a:avLst/>
          </a:prstGeom>
          <a:ln w="8890">
            <a:solidFill>
              <a:srgbClr val="2843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621792" y="6537960"/>
            <a:ext cx="896112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50" b="0" i="0">
                <a:solidFill>
                  <a:srgbClr val="9EB0C3"/>
                </a:solidFill>
                <a:latin typeface="Avenir Next"/>
              </a:rPr>
              <a:t>Sources: data/speaker_clusters/report.md; experiments/E03-speaker-leakage/README.md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58200" y="6537960"/>
            <a:ext cx="310896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650" b="0" i="0">
                <a:solidFill>
                  <a:srgbClr val="9EB0C3"/>
                </a:solidFill>
                <a:latin typeface="Avenir Next"/>
              </a:rPr>
              <a:t>github.com/aviadarn/Accentedness-Scoring-Challenge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3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20040"/>
            <a:ext cx="5486400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5FE3D2"/>
                </a:solidFill>
                <a:latin typeface="Avenir Next"/>
              </a:rPr>
              <a:t>PHONE-LEVEL ACCENTEDNESS • TAKE-HOME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704088"/>
            <a:ext cx="10698480" cy="6583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7FAFC"/>
                </a:solidFill>
                <a:latin typeface="Avenir Next"/>
              </a:rPr>
              <a:t>Sniff test: right direction, weak separation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329184"/>
            <a:ext cx="438912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EB0C3"/>
                </a:solidFill>
                <a:latin typeface="Avenir Next"/>
              </a:rPr>
              <a:t>09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21792" y="1417320"/>
            <a:ext cx="10945368" cy="0"/>
          </a:xfrm>
          <a:prstGeom prst="line">
            <a:avLst/>
          </a:prstGeom>
          <a:ln w="12700">
            <a:solidFill>
              <a:srgbClr val="2843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658368" y="1773936"/>
            <a:ext cx="5266944" cy="4315968"/>
          </a:xfrm>
          <a:prstGeom prst="roundRect">
            <a:avLst/>
          </a:prstGeom>
          <a:solidFill>
            <a:srgbClr val="0D1C2D"/>
          </a:solidFill>
          <a:ln w="12700">
            <a:solidFill>
              <a:srgbClr val="2843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" y="2002536"/>
            <a:ext cx="260604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EB0C3"/>
                </a:solidFill>
                <a:latin typeface="Avenir Next"/>
              </a:rPr>
              <a:t>CONTROLLED OWN-VOICE PAIR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80560" y="1947672"/>
            <a:ext cx="1078992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5FE3D2"/>
                </a:solidFill>
                <a:latin typeface="Avenir Next"/>
              </a:rPr>
              <a:t>+3.13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07992" y="2331720"/>
            <a:ext cx="1051560" cy="17373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9EB0C3"/>
                </a:solidFill>
                <a:latin typeface="Avenir Next"/>
              </a:rPr>
              <a:t>mean points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0976" y="2944368"/>
            <a:ext cx="1252728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7FAFC"/>
                </a:solidFill>
                <a:latin typeface="Avenir Next"/>
              </a:rPr>
              <a:t>Best American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340864" y="2852928"/>
            <a:ext cx="2898648" cy="457200"/>
          </a:xfrm>
          <a:prstGeom prst="roundRect">
            <a:avLst/>
          </a:prstGeom>
          <a:solidFill>
            <a:srgbClr val="12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340864" y="2852928"/>
            <a:ext cx="2030502" cy="457200"/>
          </a:xfrm>
          <a:prstGeom prst="roundRect">
            <a:avLst/>
          </a:prstGeom>
          <a:solidFill>
            <a:srgbClr val="5FE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2926080"/>
            <a:ext cx="530352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5FE3D2"/>
                </a:solidFill>
                <a:latin typeface="Avenir Next"/>
              </a:rPr>
              <a:t>70.05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0976" y="3904487"/>
            <a:ext cx="1252728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7FAFC"/>
                </a:solidFill>
                <a:latin typeface="Avenir Next"/>
              </a:rPr>
              <a:t>Non-native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340864" y="3813048"/>
            <a:ext cx="2898648" cy="457200"/>
          </a:xfrm>
          <a:prstGeom prst="roundRect">
            <a:avLst/>
          </a:prstGeom>
          <a:solidFill>
            <a:srgbClr val="12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2340864" y="3813048"/>
            <a:ext cx="1939775" cy="457200"/>
          </a:xfrm>
          <a:prstGeom prst="roundRect">
            <a:avLst/>
          </a:prstGeom>
          <a:solidFill>
            <a:srgbClr val="FF92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0" y="3886200"/>
            <a:ext cx="530352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9274"/>
                </a:solidFill>
                <a:latin typeface="Avenir Next"/>
              </a:rPr>
              <a:t>66.92</a:t>
            </a:r>
          </a:p>
        </p:txBody>
      </p:sp>
      <p:sp>
        <p:nvSpPr>
          <p:cNvPr id="18" name="Oval 17"/>
          <p:cNvSpPr/>
          <p:nvPr/>
        </p:nvSpPr>
        <p:spPr>
          <a:xfrm>
            <a:off x="950976" y="5056632"/>
            <a:ext cx="91440" cy="91440"/>
          </a:xfrm>
          <a:prstGeom prst="ellipse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33856" y="4946904"/>
            <a:ext cx="4343400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F7FAFC"/>
                </a:solidFill>
                <a:latin typeface="Avenir Next"/>
              </a:rPr>
              <a:t>Only 10 / 20 phones moved higher</a:t>
            </a:r>
          </a:p>
        </p:txBody>
      </p:sp>
      <p:sp>
        <p:nvSpPr>
          <p:cNvPr id="20" name="Oval 19"/>
          <p:cNvSpPr/>
          <p:nvPr/>
        </p:nvSpPr>
        <p:spPr>
          <a:xfrm>
            <a:off x="950976" y="5513832"/>
            <a:ext cx="91440" cy="91440"/>
          </a:xfrm>
          <a:prstGeom prst="ellipse">
            <a:avLst/>
          </a:prstGeom>
          <a:solidFill>
            <a:srgbClr val="FF92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33856" y="5404104"/>
            <a:ext cx="4343400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F7FAFC"/>
                </a:solidFill>
                <a:latin typeface="Avenir Next"/>
              </a:rPr>
              <a:t>Pace differed: 2.76s vs 4.08s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36208" y="1773936"/>
            <a:ext cx="4937760" cy="4315968"/>
          </a:xfrm>
          <a:prstGeom prst="roundRect">
            <a:avLst/>
          </a:prstGeom>
          <a:solidFill>
            <a:srgbClr val="12263A"/>
          </a:solidFill>
          <a:ln w="12700">
            <a:solidFill>
              <a:srgbClr val="2843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37960" y="2002536"/>
            <a:ext cx="297180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EB0C3"/>
                </a:solidFill>
                <a:latin typeface="Avenir Next"/>
              </a:rPr>
              <a:t>HEAVILY ACCENTED PHONES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37960" y="2532888"/>
            <a:ext cx="1965960" cy="1005840"/>
          </a:xfrm>
          <a:prstGeom prst="roundRect">
            <a:avLst/>
          </a:prstGeom>
          <a:solidFill>
            <a:srgbClr val="12263A"/>
          </a:solidFill>
          <a:ln w="12700">
            <a:solidFill>
              <a:srgbClr val="2843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02552" y="2670048"/>
            <a:ext cx="1636776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5FE3D2"/>
                </a:solidFill>
                <a:latin typeface="Avenir Next"/>
              </a:rPr>
              <a:t>43.53%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02552" y="3172968"/>
            <a:ext cx="1636776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9EB0C3"/>
                </a:solidFill>
                <a:latin typeface="Avenir Next"/>
              </a:rPr>
              <a:t>CORRECTLY SCORED BELOW 25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787384" y="2532888"/>
            <a:ext cx="1965960" cy="1005840"/>
          </a:xfrm>
          <a:prstGeom prst="roundRect">
            <a:avLst/>
          </a:prstGeom>
          <a:solidFill>
            <a:srgbClr val="12263A"/>
          </a:solidFill>
          <a:ln w="12700">
            <a:solidFill>
              <a:srgbClr val="2843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951976" y="2670048"/>
            <a:ext cx="1636776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FF9274"/>
                </a:solidFill>
                <a:latin typeface="Avenir Next"/>
              </a:rPr>
              <a:t>11.94%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51976" y="3172968"/>
            <a:ext cx="1636776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9EB0C3"/>
                </a:solidFill>
                <a:latin typeface="Avenir Next"/>
              </a:rPr>
              <a:t>INCORRECTLY SCORED ≥ 75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37960" y="3867912"/>
            <a:ext cx="1965960" cy="2468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7FAFC"/>
                </a:solidFill>
                <a:latin typeface="Avenir Next"/>
              </a:rPr>
              <a:t>Failure pattern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37960" y="4242816"/>
            <a:ext cx="4224528" cy="9601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9EB0C3"/>
                </a:solidFill>
                <a:latin typeface="Avenir Next"/>
              </a:rPr>
              <a:t>The model reacts when accent also hurts expected-phone recognition, but can miss subtler non-American realizations that Whisper still recognizes confidently.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537960" y="5330952"/>
            <a:ext cx="4224528" cy="429768"/>
          </a:xfrm>
          <a:prstGeom prst="roundRect">
            <a:avLst/>
          </a:prstGeom>
          <a:solidFill>
            <a:srgbClr val="173047"/>
          </a:solidFill>
          <a:ln w="12700">
            <a:solidFill>
              <a:srgbClr val="FF92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720840" y="5440680"/>
            <a:ext cx="3858768" cy="19202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9274"/>
                </a:solidFill>
                <a:latin typeface="Avenir Next"/>
              </a:rPr>
              <a:t>Conclusion: marginal utterance-level pass—not a phone-level pass.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621792" y="6483096"/>
            <a:ext cx="10945368" cy="0"/>
          </a:xfrm>
          <a:prstGeom prst="line">
            <a:avLst/>
          </a:prstGeom>
          <a:ln w="8890">
            <a:solidFill>
              <a:srgbClr val="2843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621792" y="6537960"/>
            <a:ext cx="896112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50" b="0" i="0">
                <a:solidFill>
                  <a:srgbClr val="9EB0C3"/>
                </a:solidFill>
                <a:latin typeface="Avenir Next"/>
              </a:rPr>
              <a:t>Sources: experiments/E07-sniff-tests/SNIFF_TEST.md; E07 and E08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58200" y="6537960"/>
            <a:ext cx="310896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650" b="0" i="0">
                <a:solidFill>
                  <a:srgbClr val="9EB0C3"/>
                </a:solidFill>
                <a:latin typeface="Avenir Next"/>
              </a:rPr>
              <a:t>github.com/aviadarn/Accentedness-Scoring-Challenge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3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20040"/>
            <a:ext cx="5486400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5FE3D2"/>
                </a:solidFill>
                <a:latin typeface="Avenir Next"/>
              </a:rPr>
              <a:t>PHONE-LEVEL ACCENTEDNESS • TAKE-HOME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704088"/>
            <a:ext cx="10698480" cy="6583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7FAFC"/>
                </a:solidFill>
                <a:latin typeface="Avenir Next"/>
              </a:rPr>
              <a:t>Automated judges did not validate the labels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329184"/>
            <a:ext cx="438912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EB0C3"/>
                </a:solidFill>
                <a:latin typeface="Avenir Next"/>
              </a:rPr>
              <a:t>10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21792" y="1417320"/>
            <a:ext cx="10945368" cy="0"/>
          </a:xfrm>
          <a:prstGeom prst="line">
            <a:avLst/>
          </a:prstGeom>
          <a:ln w="12700">
            <a:solidFill>
              <a:srgbClr val="2843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658368" y="1947672"/>
            <a:ext cx="3273552" cy="3346704"/>
          </a:xfrm>
          <a:prstGeom prst="roundRect">
            <a:avLst/>
          </a:prstGeom>
          <a:solidFill>
            <a:srgbClr val="12263A"/>
          </a:solidFill>
          <a:ln w="12700">
            <a:solidFill>
              <a:srgbClr val="2843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9536" y="2203704"/>
            <a:ext cx="2834640" cy="28346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7FAFC"/>
                </a:solidFill>
                <a:latin typeface="Avenir Next"/>
              </a:rPr>
              <a:t>GOPT teacher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2798064"/>
            <a:ext cx="2834640" cy="5577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73B7FF"/>
                </a:solidFill>
                <a:latin typeface="Avenir Next"/>
              </a:rPr>
              <a:t>5,863 / 5,894 → label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3575304"/>
            <a:ext cx="2834640" cy="1033271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EB0C3"/>
                </a:solidFill>
                <a:latin typeface="Avenir Next"/>
              </a:rPr>
              <a:t>Useful ranking signal, but cross-corpus calibration collapsed near native-like; macro-F1 0.299.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59536" y="4754880"/>
            <a:ext cx="1627632" cy="292608"/>
          </a:xfrm>
          <a:prstGeom prst="roundRect">
            <a:avLst/>
          </a:prstGeom>
          <a:solidFill>
            <a:srgbClr val="73B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5256" y="4764024"/>
            <a:ext cx="1536192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081321"/>
                </a:solidFill>
                <a:latin typeface="Avenir Next"/>
              </a:rPr>
              <a:t>NOT SAFE TO RELABEL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62272" y="1947672"/>
            <a:ext cx="3273552" cy="3346704"/>
          </a:xfrm>
          <a:prstGeom prst="roundRect">
            <a:avLst/>
          </a:prstGeom>
          <a:solidFill>
            <a:srgbClr val="12263A"/>
          </a:solidFill>
          <a:ln w="12700">
            <a:solidFill>
              <a:srgbClr val="2843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63440" y="2203704"/>
            <a:ext cx="2834640" cy="28346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7FAFC"/>
                </a:solidFill>
                <a:latin typeface="Avenir Next"/>
              </a:rPr>
              <a:t>Local audio LLM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2798064"/>
            <a:ext cx="2834640" cy="5577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FC857"/>
                </a:solidFill>
                <a:latin typeface="Avenir Next"/>
              </a:rPr>
              <a:t>347 / 347 → label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3575304"/>
            <a:ext cx="2834640" cy="1033271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EB0C3"/>
                </a:solidFill>
                <a:latin typeface="Avenir Next"/>
              </a:rPr>
              <a:t>Gemma 4 12B passed structure checks but failed the informativeness gate completely.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663440" y="4754880"/>
            <a:ext cx="1627632" cy="292608"/>
          </a:xfrm>
          <a:prstGeom prst="roundRect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09159" y="4764024"/>
            <a:ext cx="1536192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081321"/>
                </a:solidFill>
                <a:latin typeface="Avenir Next"/>
              </a:rPr>
              <a:t>NOT SAFE TO RELABEL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66175" y="1947672"/>
            <a:ext cx="3273552" cy="3346704"/>
          </a:xfrm>
          <a:prstGeom prst="roundRect">
            <a:avLst/>
          </a:prstGeom>
          <a:solidFill>
            <a:srgbClr val="12263A"/>
          </a:solidFill>
          <a:ln w="12700">
            <a:solidFill>
              <a:srgbClr val="2843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67344" y="2203704"/>
            <a:ext cx="2834640" cy="28346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7FAFC"/>
                </a:solidFill>
                <a:latin typeface="Avenir Next"/>
              </a:rPr>
              <a:t>GPT audio judge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67344" y="2798064"/>
            <a:ext cx="2834640" cy="5577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F9274"/>
                </a:solidFill>
                <a:latin typeface="Avenir Next"/>
              </a:rPr>
              <a:t>40% agreement • 0 label-0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67344" y="3575304"/>
            <a:ext cx="2834640" cy="1033271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EB0C3"/>
                </a:solidFill>
                <a:latin typeface="Avenir Next"/>
              </a:rPr>
              <a:t>Balanced 30-item audit: macro-F1 0.299, QWK 0.143; it remained too lenient.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467344" y="4754880"/>
            <a:ext cx="1627632" cy="292608"/>
          </a:xfrm>
          <a:prstGeom prst="roundRect">
            <a:avLst/>
          </a:prstGeom>
          <a:solidFill>
            <a:srgbClr val="FF92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13064" y="4764024"/>
            <a:ext cx="1536192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081321"/>
                </a:solidFill>
                <a:latin typeface="Avenir Next"/>
              </a:rPr>
              <a:t>NOT SAFE TO RELABEL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8368" y="5623560"/>
            <a:ext cx="10881360" cy="502920"/>
          </a:xfrm>
          <a:prstGeom prst="roundRect">
            <a:avLst/>
          </a:prstGeom>
          <a:solidFill>
            <a:srgbClr val="173047"/>
          </a:solidFill>
          <a:ln w="12700">
            <a:solidFill>
              <a:srgbClr val="5FE3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9536" y="5760720"/>
            <a:ext cx="1207008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5FE3D2"/>
                </a:solidFill>
                <a:latin typeface="Avenir Next"/>
              </a:rPr>
              <a:t>Next valid step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03704" y="5705856"/>
            <a:ext cx="900684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7FAFC"/>
                </a:solidFill>
                <a:latin typeface="Avenir Next"/>
              </a:rPr>
              <a:t>Blinded expert review. The deterministic packets exist; no human-rating ledger exists yet.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621792" y="6483096"/>
            <a:ext cx="10945368" cy="0"/>
          </a:xfrm>
          <a:prstGeom prst="line">
            <a:avLst/>
          </a:prstGeom>
          <a:ln w="8890">
            <a:solidFill>
              <a:srgbClr val="2843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621792" y="6537960"/>
            <a:ext cx="896112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50" b="0" i="0">
                <a:solidFill>
                  <a:srgbClr val="9EB0C3"/>
                </a:solidFill>
                <a:latin typeface="Avenir Next"/>
              </a:rPr>
              <a:t>Sources: experiments/E09–E13; E11/GOPT_PILOT_RESULTS.md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58200" y="6537960"/>
            <a:ext cx="310896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650" b="0" i="0">
                <a:solidFill>
                  <a:srgbClr val="9EB0C3"/>
                </a:solidFill>
                <a:latin typeface="Avenir Next"/>
              </a:rPr>
              <a:t>github.com/aviadarn/Accentedness-Scoring-Challenge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3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20040"/>
            <a:ext cx="5486400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5FE3D2"/>
                </a:solidFill>
                <a:latin typeface="Avenir Next"/>
              </a:rPr>
              <a:t>PHONE-LEVEL ACCENTEDNESS • TAKE-HOME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704088"/>
            <a:ext cx="10698480" cy="6583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7FAFC"/>
                </a:solidFill>
                <a:latin typeface="Avenir Next"/>
              </a:rPr>
              <a:t>Demo: turn a score into a practice loop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329184"/>
            <a:ext cx="438912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EB0C3"/>
                </a:solidFill>
                <a:latin typeface="Avenir Next"/>
              </a:rPr>
              <a:t>11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21792" y="1417320"/>
            <a:ext cx="10945368" cy="0"/>
          </a:xfrm>
          <a:prstGeom prst="line">
            <a:avLst/>
          </a:prstGeom>
          <a:ln w="12700">
            <a:solidFill>
              <a:srgbClr val="2843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658368" y="1719072"/>
            <a:ext cx="6784848" cy="4526280"/>
          </a:xfrm>
          <a:prstGeom prst="roundRect">
            <a:avLst/>
          </a:prstGeom>
          <a:solidFill>
            <a:srgbClr val="F3F7FA"/>
          </a:solidFill>
          <a:ln w="12700">
            <a:solidFill>
              <a:srgbClr val="2843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19072"/>
            <a:ext cx="6784848" cy="475488"/>
          </a:xfrm>
          <a:prstGeom prst="rect">
            <a:avLst/>
          </a:prstGeom>
          <a:solidFill>
            <a:srgbClr val="DC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68680" y="1865376"/>
            <a:ext cx="91440" cy="91440"/>
          </a:xfrm>
          <a:prstGeom prst="ellipse">
            <a:avLst/>
          </a:prstGeom>
          <a:solidFill>
            <a:srgbClr val="FF92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97280" y="1865376"/>
            <a:ext cx="91440" cy="91440"/>
          </a:xfrm>
          <a:prstGeom prst="ellipse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325880" y="1865376"/>
            <a:ext cx="91440" cy="91440"/>
          </a:xfrm>
          <a:prstGeom prst="ellipse">
            <a:avLst/>
          </a:prstGeom>
          <a:solidFill>
            <a:srgbClr val="A8E0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527048" y="1837943"/>
            <a:ext cx="256032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42033"/>
                </a:solidFill>
                <a:latin typeface="Avenir Next"/>
              </a:rPr>
              <a:t>Pronunciation practice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" y="2478024"/>
            <a:ext cx="1920240" cy="2103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52677B"/>
                </a:solidFill>
                <a:latin typeface="Avenir Next"/>
              </a:rPr>
              <a:t>Sentence to practice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87552" y="2807208"/>
            <a:ext cx="5230368" cy="512064"/>
          </a:xfrm>
          <a:prstGeom prst="roundRect">
            <a:avLst/>
          </a:prstGeom>
          <a:solidFill>
            <a:srgbClr val="F7FAFC"/>
          </a:solidFill>
          <a:ln w="12700">
            <a:solidFill>
              <a:srgbClr val="C8D7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88720" y="2935224"/>
            <a:ext cx="443484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42033"/>
                </a:solidFill>
                <a:latin typeface="Avenir Next"/>
              </a:rPr>
              <a:t>We are both children together.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760720" y="2889504"/>
            <a:ext cx="283464" cy="283464"/>
          </a:xfrm>
          <a:prstGeom prst="roundRect">
            <a:avLst/>
          </a:prstGeom>
          <a:solidFill>
            <a:srgbClr val="73B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760720" y="2926080"/>
            <a:ext cx="283464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7FAFC"/>
                </a:solidFill>
                <a:latin typeface="Avenir Next"/>
              </a:rPr>
              <a:t>▶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87552" y="3602736"/>
            <a:ext cx="2176272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52677B"/>
                </a:solidFill>
                <a:latin typeface="Avenir Next"/>
              </a:rPr>
              <a:t>Generated phones • editable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87552" y="3922776"/>
            <a:ext cx="393192" cy="393192"/>
          </a:xfrm>
          <a:prstGeom prst="roundRect">
            <a:avLst/>
          </a:prstGeom>
          <a:solidFill>
            <a:srgbClr val="E4EEF4"/>
          </a:solidFill>
          <a:ln w="12700">
            <a:solidFill>
              <a:srgbClr val="C8D7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87552" y="4014215"/>
            <a:ext cx="393192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42033"/>
                </a:solidFill>
                <a:latin typeface="Avenir Next"/>
              </a:rPr>
              <a:t>w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481328" y="3922776"/>
            <a:ext cx="393192" cy="393192"/>
          </a:xfrm>
          <a:prstGeom prst="roundRect">
            <a:avLst/>
          </a:prstGeom>
          <a:solidFill>
            <a:srgbClr val="E4EEF4"/>
          </a:solidFill>
          <a:ln w="12700">
            <a:solidFill>
              <a:srgbClr val="C8D7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81328" y="4014215"/>
            <a:ext cx="393192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42033"/>
                </a:solidFill>
                <a:latin typeface="Avenir Next"/>
              </a:rPr>
              <a:t>i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975104" y="3922776"/>
            <a:ext cx="393192" cy="393192"/>
          </a:xfrm>
          <a:prstGeom prst="roundRect">
            <a:avLst/>
          </a:prstGeom>
          <a:solidFill>
            <a:srgbClr val="E4EEF4"/>
          </a:solidFill>
          <a:ln w="12700">
            <a:solidFill>
              <a:srgbClr val="C8D7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975104" y="4014215"/>
            <a:ext cx="393192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42033"/>
                </a:solidFill>
                <a:latin typeface="Avenir Next"/>
              </a:rPr>
              <a:t>j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468880" y="3922776"/>
            <a:ext cx="393192" cy="393192"/>
          </a:xfrm>
          <a:prstGeom prst="roundRect">
            <a:avLst/>
          </a:prstGeom>
          <a:solidFill>
            <a:srgbClr val="E4EEF4"/>
          </a:solidFill>
          <a:ln w="12700">
            <a:solidFill>
              <a:srgbClr val="C8D7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468880" y="4014215"/>
            <a:ext cx="393192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42033"/>
                </a:solidFill>
                <a:latin typeface="Avenir Next"/>
              </a:rPr>
              <a:t>ɝ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962656" y="3922776"/>
            <a:ext cx="393192" cy="393192"/>
          </a:xfrm>
          <a:prstGeom prst="roundRect">
            <a:avLst/>
          </a:prstGeom>
          <a:solidFill>
            <a:srgbClr val="E4EEF4"/>
          </a:solidFill>
          <a:ln w="12700">
            <a:solidFill>
              <a:srgbClr val="C8D7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962656" y="4014215"/>
            <a:ext cx="393192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42033"/>
                </a:solidFill>
                <a:latin typeface="Avenir Next"/>
              </a:rPr>
              <a:t>b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456432" y="3922776"/>
            <a:ext cx="393192" cy="393192"/>
          </a:xfrm>
          <a:prstGeom prst="roundRect">
            <a:avLst/>
          </a:prstGeom>
          <a:solidFill>
            <a:srgbClr val="E4EEF4"/>
          </a:solidFill>
          <a:ln w="12700">
            <a:solidFill>
              <a:srgbClr val="C8D7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456432" y="4014215"/>
            <a:ext cx="393192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42033"/>
                </a:solidFill>
                <a:latin typeface="Avenir Next"/>
              </a:rPr>
              <a:t>oʊ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950208" y="3922776"/>
            <a:ext cx="393192" cy="393192"/>
          </a:xfrm>
          <a:prstGeom prst="roundRect">
            <a:avLst/>
          </a:prstGeom>
          <a:solidFill>
            <a:srgbClr val="E4EEF4"/>
          </a:solidFill>
          <a:ln w="12700">
            <a:solidFill>
              <a:srgbClr val="C8D7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950208" y="4014215"/>
            <a:ext cx="393192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42033"/>
                </a:solidFill>
                <a:latin typeface="Avenir Next"/>
              </a:rPr>
              <a:t>θ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443984" y="3922776"/>
            <a:ext cx="393192" cy="393192"/>
          </a:xfrm>
          <a:prstGeom prst="roundRect">
            <a:avLst/>
          </a:prstGeom>
          <a:solidFill>
            <a:srgbClr val="E4EEF4"/>
          </a:solidFill>
          <a:ln w="12700">
            <a:solidFill>
              <a:srgbClr val="C8D7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443984" y="4014215"/>
            <a:ext cx="393192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42033"/>
                </a:solidFill>
                <a:latin typeface="Avenir Next"/>
              </a:rPr>
              <a:t>tʃ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937760" y="3922776"/>
            <a:ext cx="393192" cy="393192"/>
          </a:xfrm>
          <a:prstGeom prst="roundRect">
            <a:avLst/>
          </a:prstGeom>
          <a:solidFill>
            <a:srgbClr val="E4EEF4"/>
          </a:solidFill>
          <a:ln w="12700">
            <a:solidFill>
              <a:srgbClr val="C8D7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937760" y="4014215"/>
            <a:ext cx="393192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42033"/>
                </a:solidFill>
                <a:latin typeface="Avenir Next"/>
              </a:rPr>
              <a:t>ɪ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431536" y="3922776"/>
            <a:ext cx="393192" cy="393192"/>
          </a:xfrm>
          <a:prstGeom prst="roundRect">
            <a:avLst/>
          </a:prstGeom>
          <a:solidFill>
            <a:srgbClr val="E4EEF4"/>
          </a:solidFill>
          <a:ln w="12700">
            <a:solidFill>
              <a:srgbClr val="C8D7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431536" y="4014215"/>
            <a:ext cx="393192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42033"/>
                </a:solidFill>
                <a:latin typeface="Avenir Next"/>
              </a:rPr>
              <a:t>l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87552" y="4645152"/>
            <a:ext cx="2359152" cy="630936"/>
          </a:xfrm>
          <a:prstGeom prst="roundRect">
            <a:avLst/>
          </a:prstGeom>
          <a:solidFill>
            <a:srgbClr val="73B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188720" y="4837176"/>
            <a:ext cx="1956816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7FAFC"/>
                </a:solidFill>
                <a:latin typeface="Avenir Next"/>
              </a:rPr>
              <a:t>Record / upload audio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584448" y="4645152"/>
            <a:ext cx="2633472" cy="630936"/>
          </a:xfrm>
          <a:prstGeom prst="roundRect">
            <a:avLst/>
          </a:prstGeom>
          <a:solidFill>
            <a:srgbClr val="5FE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785615" y="4837176"/>
            <a:ext cx="2231136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42033"/>
                </a:solidFill>
                <a:latin typeface="Avenir Next"/>
              </a:rPr>
              <a:t>Score pronunciation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87552" y="5577840"/>
            <a:ext cx="105156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52677B"/>
                </a:solidFill>
                <a:latin typeface="Avenir Next"/>
              </a:rPr>
              <a:t>Score bands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901952" y="5532120"/>
            <a:ext cx="164592" cy="164592"/>
          </a:xfrm>
          <a:prstGeom prst="roundRect">
            <a:avLst/>
          </a:prstGeom>
          <a:solidFill>
            <a:srgbClr val="FF92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130552" y="5513832"/>
            <a:ext cx="859536" cy="17373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52677B"/>
                </a:solidFill>
                <a:latin typeface="Avenir Next"/>
              </a:rPr>
              <a:t>practice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3227832" y="5532120"/>
            <a:ext cx="164592" cy="164592"/>
          </a:xfrm>
          <a:prstGeom prst="roundRect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456432" y="5513832"/>
            <a:ext cx="859536" cy="17373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52677B"/>
                </a:solidFill>
                <a:latin typeface="Avenir Next"/>
              </a:rPr>
              <a:t>developing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553712" y="5532120"/>
            <a:ext cx="164592" cy="164592"/>
          </a:xfrm>
          <a:prstGeom prst="roundRect">
            <a:avLst/>
          </a:prstGeom>
          <a:solidFill>
            <a:srgbClr val="A8E0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782312" y="5513832"/>
            <a:ext cx="859536" cy="17373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52677B"/>
                </a:solidFill>
                <a:latin typeface="Avenir Next"/>
              </a:rPr>
              <a:t>strong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836408" y="1810512"/>
            <a:ext cx="283464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F7FAFC"/>
                </a:solidFill>
                <a:latin typeface="Avenir Next"/>
              </a:rPr>
              <a:t>Product choices</a:t>
            </a:r>
          </a:p>
        </p:txBody>
      </p:sp>
      <p:sp>
        <p:nvSpPr>
          <p:cNvPr id="50" name="Oval 49"/>
          <p:cNvSpPr/>
          <p:nvPr/>
        </p:nvSpPr>
        <p:spPr>
          <a:xfrm>
            <a:off x="7845552" y="2596896"/>
            <a:ext cx="91440" cy="91440"/>
          </a:xfrm>
          <a:prstGeom prst="ellipse">
            <a:avLst/>
          </a:prstGeom>
          <a:solidFill>
            <a:srgbClr val="5FE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028431" y="2487168"/>
            <a:ext cx="2907791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7FAFC"/>
                </a:solidFill>
                <a:latin typeface="Avenir Next"/>
              </a:rPr>
              <a:t>Microphone or upload</a:t>
            </a:r>
          </a:p>
        </p:txBody>
      </p:sp>
      <p:sp>
        <p:nvSpPr>
          <p:cNvPr id="52" name="Oval 51"/>
          <p:cNvSpPr/>
          <p:nvPr/>
        </p:nvSpPr>
        <p:spPr>
          <a:xfrm>
            <a:off x="7845552" y="3081528"/>
            <a:ext cx="91440" cy="91440"/>
          </a:xfrm>
          <a:prstGeom prst="ellipse">
            <a:avLst/>
          </a:prstGeom>
          <a:solidFill>
            <a:srgbClr val="73B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028431" y="2971800"/>
            <a:ext cx="2907791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7FAFC"/>
                </a:solidFill>
                <a:latin typeface="Avenir Next"/>
              </a:rPr>
              <a:t>Sentence playback</a:t>
            </a:r>
          </a:p>
        </p:txBody>
      </p:sp>
      <p:sp>
        <p:nvSpPr>
          <p:cNvPr id="54" name="Oval 53"/>
          <p:cNvSpPr/>
          <p:nvPr/>
        </p:nvSpPr>
        <p:spPr>
          <a:xfrm>
            <a:off x="7845552" y="3566160"/>
            <a:ext cx="91440" cy="91440"/>
          </a:xfrm>
          <a:prstGeom prst="ellipse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028431" y="3456432"/>
            <a:ext cx="2907791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7FAFC"/>
                </a:solidFill>
                <a:latin typeface="Avenir Next"/>
              </a:rPr>
              <a:t>Automatic, editable phonemes</a:t>
            </a:r>
          </a:p>
        </p:txBody>
      </p:sp>
      <p:sp>
        <p:nvSpPr>
          <p:cNvPr id="56" name="Oval 55"/>
          <p:cNvSpPr/>
          <p:nvPr/>
        </p:nvSpPr>
        <p:spPr>
          <a:xfrm>
            <a:off x="7845552" y="4050791"/>
            <a:ext cx="91440" cy="91440"/>
          </a:xfrm>
          <a:prstGeom prst="ellipse">
            <a:avLst/>
          </a:prstGeom>
          <a:solidFill>
            <a:srgbClr val="FF92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028431" y="3941063"/>
            <a:ext cx="2907791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7FAFC"/>
                </a:solidFill>
                <a:latin typeface="Avenir Next"/>
              </a:rPr>
              <a:t>Ordered per-phone feedback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7845552" y="4626864"/>
            <a:ext cx="3364992" cy="987552"/>
          </a:xfrm>
          <a:prstGeom prst="roundRect">
            <a:avLst/>
          </a:prstGeom>
          <a:solidFill>
            <a:srgbClr val="173047"/>
          </a:solidFill>
          <a:ln w="12700">
            <a:solidFill>
              <a:srgbClr val="5FE3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046720" y="4800600"/>
            <a:ext cx="2962656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5FE3D2"/>
                </a:solidFill>
                <a:latin typeface="Avenir Next"/>
              </a:rPr>
              <a:t>Difficulty ≠ model score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046720" y="5166360"/>
            <a:ext cx="2962656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F7FAFC"/>
                </a:solidFill>
                <a:latin typeface="Avenir Next"/>
              </a:rPr>
              <a:t>Keep raw scores fixed; adapt only the coaching threshold per phone and learner.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845552" y="5925312"/>
            <a:ext cx="3364992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9EB0C3"/>
                </a:solidFill>
                <a:latin typeface="Menlo"/>
              </a:rPr>
              <a:t>Run locally:  cd submission  •  uv run python demo_app.py</a:t>
            </a:r>
          </a:p>
        </p:txBody>
      </p:sp>
      <p:cxnSp>
        <p:nvCxnSpPr>
          <p:cNvPr id="62" name="Connector 61"/>
          <p:cNvCxnSpPr/>
          <p:nvPr/>
        </p:nvCxnSpPr>
        <p:spPr>
          <a:xfrm>
            <a:off x="621792" y="6483096"/>
            <a:ext cx="10945368" cy="0"/>
          </a:xfrm>
          <a:prstGeom prst="line">
            <a:avLst/>
          </a:prstGeom>
          <a:ln w="8890">
            <a:solidFill>
              <a:srgbClr val="2843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TextBox 62"/>
          <p:cNvSpPr txBox="1"/>
          <p:nvPr/>
        </p:nvSpPr>
        <p:spPr>
          <a:xfrm>
            <a:off x="621792" y="6537960"/>
            <a:ext cx="896112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50" b="0" i="0">
                <a:solidFill>
                  <a:srgbClr val="9EB0C3"/>
                </a:solidFill>
                <a:latin typeface="Avenir Next"/>
              </a:rPr>
              <a:t>Sources: submission/demo_app.py; submission/README.md; submission/WRITEUP.md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458200" y="6537960"/>
            <a:ext cx="310896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650" b="0" i="0">
                <a:solidFill>
                  <a:srgbClr val="9EB0C3"/>
                </a:solidFill>
                <a:latin typeface="Avenir Next"/>
              </a:rPr>
              <a:t>github.com/aviadarn/Accentedness-Scoring-Challenge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3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20040"/>
            <a:ext cx="5486400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5FE3D2"/>
                </a:solidFill>
                <a:latin typeface="Avenir Next"/>
              </a:rPr>
              <a:t>PHONE-LEVEL ACCENTEDNESS • TAKE-HOME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704088"/>
            <a:ext cx="10698480" cy="6583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7FAFC"/>
                </a:solidFill>
                <a:latin typeface="Avenir Next"/>
              </a:rPr>
              <a:t>Takeaway: useful signal, honest uncertainty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329184"/>
            <a:ext cx="438912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EB0C3"/>
                </a:solidFill>
                <a:latin typeface="Avenir Next"/>
              </a:rPr>
              <a:t>12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21792" y="1417320"/>
            <a:ext cx="10945368" cy="0"/>
          </a:xfrm>
          <a:prstGeom prst="line">
            <a:avLst/>
          </a:prstGeom>
          <a:ln w="12700">
            <a:solidFill>
              <a:srgbClr val="2843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13232" y="1783080"/>
            <a:ext cx="10716768" cy="10789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7FAFC"/>
                </a:solidFill>
                <a:latin typeface="Avenir Next"/>
              </a:rPr>
              <a:t>The model learned </a:t>
            </a:r>
            <a:r>
              <a:rPr sz="2800" b="1" i="0">
                <a:solidFill>
                  <a:srgbClr val="5FE3D2"/>
                </a:solidFill>
                <a:latin typeface="Avenir Next"/>
              </a:rPr>
              <a:t>useful acoustic signal</a:t>
            </a:r>
            <a:r>
              <a:rPr sz="2800" b="1" i="0">
                <a:solidFill>
                  <a:srgbClr val="F7FAFC"/>
                </a:solidFill>
                <a:latin typeface="Avenir Next"/>
              </a:rPr>
              <a:t>.
The evaluation has not yet proven </a:t>
            </a:r>
            <a:r>
              <a:rPr sz="2800" b="1" i="0">
                <a:solidFill>
                  <a:srgbClr val="FF9274"/>
                </a:solidFill>
                <a:latin typeface="Avenir Next"/>
              </a:rPr>
              <a:t>new-speaker robustness</a:t>
            </a:r>
            <a:r>
              <a:rPr sz="2800" b="1" i="0">
                <a:solidFill>
                  <a:srgbClr val="F7FAFC"/>
                </a:solidFill>
                <a:latin typeface="Avenir Next"/>
              </a:rPr>
              <a:t>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3172968"/>
            <a:ext cx="3319272" cy="1856231"/>
          </a:xfrm>
          <a:prstGeom prst="roundRect">
            <a:avLst/>
          </a:prstGeom>
          <a:solidFill>
            <a:srgbClr val="12263A"/>
          </a:solidFill>
          <a:ln w="12700">
            <a:solidFill>
              <a:srgbClr val="2843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14400" y="3374136"/>
            <a:ext cx="457200" cy="292608"/>
          </a:xfrm>
          <a:prstGeom prst="roundRect">
            <a:avLst/>
          </a:prstGeom>
          <a:solidFill>
            <a:srgbClr val="5FE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3383279"/>
            <a:ext cx="365760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81321"/>
                </a:solidFill>
                <a:latin typeface="Avenir Next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858768"/>
            <a:ext cx="2724912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7FAFC"/>
                </a:solidFill>
                <a:latin typeface="Avenir Next"/>
              </a:rPr>
              <a:t>Benchmark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370832"/>
            <a:ext cx="2788920" cy="4480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9EB0C3"/>
                </a:solidFill>
                <a:latin typeface="Avenir Next"/>
              </a:rPr>
              <a:t>Collect a genuinely speaker-disjoint, expert-rated evaluation set.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3172968"/>
            <a:ext cx="3319272" cy="1856231"/>
          </a:xfrm>
          <a:prstGeom prst="roundRect">
            <a:avLst/>
          </a:prstGeom>
          <a:solidFill>
            <a:srgbClr val="12263A"/>
          </a:solidFill>
          <a:ln w="12700">
            <a:solidFill>
              <a:srgbClr val="2843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590288" y="3374136"/>
            <a:ext cx="457200" cy="292608"/>
          </a:xfrm>
          <a:prstGeom prst="roundRect">
            <a:avLst/>
          </a:prstGeom>
          <a:solidFill>
            <a:srgbClr val="73B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36007" y="3383279"/>
            <a:ext cx="365760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81321"/>
                </a:solidFill>
                <a:latin typeface="Avenir Next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90288" y="3858768"/>
            <a:ext cx="2724912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7FAFC"/>
                </a:solidFill>
                <a:latin typeface="Avenir Next"/>
              </a:rPr>
              <a:t>Calibrate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90288" y="4370832"/>
            <a:ext cx="2788920" cy="4480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9EB0C3"/>
                </a:solidFill>
                <a:latin typeface="Avenir Next"/>
              </a:rPr>
              <a:t>Review label disagreements and fit phone-specific calibration with uncertainty.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65007" y="3172968"/>
            <a:ext cx="3319272" cy="1856231"/>
          </a:xfrm>
          <a:prstGeom prst="roundRect">
            <a:avLst/>
          </a:prstGeom>
          <a:solidFill>
            <a:srgbClr val="12263A"/>
          </a:solidFill>
          <a:ln w="12700">
            <a:solidFill>
              <a:srgbClr val="2843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266175" y="3374136"/>
            <a:ext cx="457200" cy="292608"/>
          </a:xfrm>
          <a:prstGeom prst="roundRect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11896" y="3383279"/>
            <a:ext cx="365760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81321"/>
                </a:solidFill>
                <a:latin typeface="Avenir Next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66175" y="3858768"/>
            <a:ext cx="2724912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7FAFC"/>
                </a:solidFill>
                <a:latin typeface="Avenir Next"/>
              </a:rPr>
              <a:t>Improve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66175" y="4370832"/>
            <a:ext cx="2788920" cy="4480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9EB0C3"/>
                </a:solidFill>
                <a:latin typeface="Avenir Next"/>
              </a:rPr>
              <a:t>Test a more accent-sensitive encoder across seeds and matched-pace voice pairs.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13232" y="5376672"/>
            <a:ext cx="10671048" cy="630936"/>
          </a:xfrm>
          <a:prstGeom prst="roundRect">
            <a:avLst/>
          </a:prstGeom>
          <a:solidFill>
            <a:srgbClr val="173047"/>
          </a:solidFill>
          <a:ln w="12700">
            <a:solidFill>
              <a:srgbClr val="FF92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2688" y="5550408"/>
            <a:ext cx="1024128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9274"/>
                </a:solidFill>
                <a:latin typeface="Avenir Next"/>
              </a:rPr>
              <a:t>Ship today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11680" y="5495544"/>
            <a:ext cx="9061704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7FAFC"/>
                </a:solidFill>
                <a:latin typeface="Avenir Next"/>
              </a:rPr>
              <a:t>A coaching prototype with visible uncertainty—not a high-stakes judgment of identity, ability, or proficiency.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3232" y="6172200"/>
            <a:ext cx="10671048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5FE3D2"/>
                </a:solidFill>
                <a:latin typeface="Avenir Next"/>
              </a:rPr>
              <a:t>Questions  •  discussion  •  live demo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21792" y="6483096"/>
            <a:ext cx="10945368" cy="0"/>
          </a:xfrm>
          <a:prstGeom prst="line">
            <a:avLst/>
          </a:prstGeom>
          <a:ln w="8890">
            <a:solidFill>
              <a:srgbClr val="2843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621792" y="6537960"/>
            <a:ext cx="896112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50" b="0" i="0">
                <a:solidFill>
                  <a:srgbClr val="9EB0C3"/>
                </a:solidFill>
                <a:latin typeface="Avenir Next"/>
              </a:rPr>
              <a:t>Sources: submission/WRITEUP.md; experiments/README.md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58200" y="6537960"/>
            <a:ext cx="310896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650" b="0" i="0">
                <a:solidFill>
                  <a:srgbClr val="9EB0C3"/>
                </a:solidFill>
                <a:latin typeface="Avenir Next"/>
              </a:rPr>
              <a:t>github.com/aviadarn/Accentedness-Scoring-Challenge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Phone-Level Accentedness Scoring</dc:title>
  <dc:subject>ML take-home challenge presentation</dc:subject>
  <dc:creator>Aviad Arnias</dc:creator>
  <cp:keywords>speech, pronunciation, accentedness, ordinal regression, Whisper</cp:keywords>
  <dc:description>Generated from presentation/generate_slides.py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